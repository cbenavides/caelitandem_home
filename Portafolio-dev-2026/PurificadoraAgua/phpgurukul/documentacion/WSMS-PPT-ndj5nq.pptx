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6" r:id="rId2"/>
    <p:sldId id="292" r:id="rId3"/>
    <p:sldId id="348" r:id="rId4"/>
    <p:sldId id="259" r:id="rId5"/>
    <p:sldId id="300" r:id="rId6"/>
    <p:sldId id="327" r:id="rId7"/>
    <p:sldId id="262" r:id="rId8"/>
    <p:sldId id="263" r:id="rId9"/>
    <p:sldId id="264" r:id="rId10"/>
    <p:sldId id="328" r:id="rId11"/>
    <p:sldId id="267" r:id="rId12"/>
    <p:sldId id="376" r:id="rId13"/>
    <p:sldId id="377" r:id="rId14"/>
    <p:sldId id="378" r:id="rId15"/>
    <p:sldId id="379" r:id="rId16"/>
    <p:sldId id="380" r:id="rId17"/>
    <p:sldId id="297" r:id="rId18"/>
    <p:sldId id="268" r:id="rId19"/>
    <p:sldId id="269" r:id="rId20"/>
    <p:sldId id="350" r:id="rId21"/>
    <p:sldId id="381" r:id="rId22"/>
    <p:sldId id="382" r:id="rId23"/>
    <p:sldId id="383" r:id="rId24"/>
    <p:sldId id="384" r:id="rId25"/>
    <p:sldId id="385" r:id="rId26"/>
    <p:sldId id="386" r:id="rId27"/>
    <p:sldId id="387" r:id="rId28"/>
    <p:sldId id="388" r:id="rId29"/>
    <p:sldId id="389" r:id="rId30"/>
    <p:sldId id="390" r:id="rId31"/>
    <p:sldId id="391" r:id="rId32"/>
    <p:sldId id="392" r:id="rId33"/>
    <p:sldId id="393" r:id="rId34"/>
    <p:sldId id="394" r:id="rId35"/>
    <p:sldId id="395" r:id="rId36"/>
    <p:sldId id="396" r:id="rId37"/>
    <p:sldId id="397" r:id="rId38"/>
    <p:sldId id="398" r:id="rId39"/>
    <p:sldId id="399" r:id="rId40"/>
    <p:sldId id="400" r:id="rId41"/>
    <p:sldId id="401" r:id="rId42"/>
    <p:sldId id="402" r:id="rId43"/>
    <p:sldId id="403" r:id="rId44"/>
    <p:sldId id="404" r:id="rId45"/>
    <p:sldId id="405" r:id="rId46"/>
    <p:sldId id="406" r:id="rId47"/>
    <p:sldId id="296" r:id="rId48"/>
    <p:sldId id="375" r:id="rId49"/>
    <p:sldId id="274" r:id="rId50"/>
    <p:sldId id="27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196" autoAdjust="0"/>
  </p:normalViewPr>
  <p:slideViewPr>
    <p:cSldViewPr>
      <p:cViewPr varScale="1">
        <p:scale>
          <a:sx n="83" d="100"/>
          <a:sy n="83" d="100"/>
        </p:scale>
        <p:origin x="1478"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F5B7F-8512-41E7-A035-99AF5AE4F19F}" type="datetimeFigureOut">
              <a:rPr lang="en-US" smtClean="0"/>
              <a:pPr/>
              <a:t>12/20/2023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DBF95E-DA7F-4100-90CB-4D99A6961DEE}" type="slidenum">
              <a:rPr lang="en-US" smtClean="0"/>
              <a:pPr/>
              <a:t>‹#›</a:t>
            </a:fld>
            <a:endParaRPr lang="en-US"/>
          </a:p>
        </p:txBody>
      </p:sp>
    </p:spTree>
    <p:extLst>
      <p:ext uri="{BB962C8B-B14F-4D97-AF65-F5344CB8AC3E}">
        <p14:creationId xmlns:p14="http://schemas.microsoft.com/office/powerpoint/2010/main" val="1697360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 </a:t>
            </a:r>
          </a:p>
          <a:p>
            <a:r>
              <a:rPr lang="en-US" sz="1200" b="1" kern="1200" dirty="0">
                <a:solidFill>
                  <a:schemeClr val="tx1"/>
                </a:solidFill>
                <a:latin typeface="+mn-lt"/>
                <a:ea typeface="+mn-ea"/>
                <a:cs typeface="+mn-cs"/>
              </a:rPr>
              <a:t>USECASE DIAGRAM: </a:t>
            </a:r>
            <a:r>
              <a:rPr lang="en-US" sz="1200" kern="1200" dirty="0">
                <a:solidFill>
                  <a:schemeClr val="tx1"/>
                </a:solidFill>
                <a:latin typeface="+mn-lt"/>
                <a:ea typeface="+mn-ea"/>
                <a:cs typeface="+mn-cs"/>
              </a:rPr>
              <a:t>A Use case is a description of set of sequence of actions.  Graphically it is rendered as an ellipse with solid line including only its name.  Use case diagram is a behavioral diagram that shows a set of use cases and actors and their relationship.  It is an association between the use cases and actors.  An actor represents a real-world object.  Primary Actor – Sender, Secondary Actor Receiver.</a:t>
            </a:r>
          </a:p>
          <a:p>
            <a:endParaRPr lang="en-US" dirty="0"/>
          </a:p>
        </p:txBody>
      </p:sp>
      <p:sp>
        <p:nvSpPr>
          <p:cNvPr id="4" name="Slide Number Placeholder 3"/>
          <p:cNvSpPr>
            <a:spLocks noGrp="1"/>
          </p:cNvSpPr>
          <p:nvPr>
            <p:ph type="sldNum" sz="quarter" idx="10"/>
          </p:nvPr>
        </p:nvSpPr>
        <p:spPr/>
        <p:txBody>
          <a:bodyPr/>
          <a:lstStyle/>
          <a:p>
            <a:fld id="{5FDBF95E-DA7F-4100-90CB-4D99A6961DEE}" type="slidenum">
              <a:rPr lang="en-US" smtClean="0"/>
              <a:pPr/>
              <a:t>9</a:t>
            </a:fld>
            <a:endParaRPr lang="en-US"/>
          </a:p>
        </p:txBody>
      </p:sp>
    </p:spTree>
    <p:extLst>
      <p:ext uri="{BB962C8B-B14F-4D97-AF65-F5344CB8AC3E}">
        <p14:creationId xmlns:p14="http://schemas.microsoft.com/office/powerpoint/2010/main" val="4089838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class diagram shows a set of classes, interfaces, collaborations and their relationships.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FDBF95E-DA7F-4100-90CB-4D99A6961DEE}" type="slidenum">
              <a:rPr lang="en-US" smtClean="0"/>
              <a:pPr/>
              <a:t>17</a:t>
            </a:fld>
            <a:endParaRPr lang="en-US"/>
          </a:p>
        </p:txBody>
      </p:sp>
    </p:spTree>
    <p:extLst>
      <p:ext uri="{BB962C8B-B14F-4D97-AF65-F5344CB8AC3E}">
        <p14:creationId xmlns:p14="http://schemas.microsoft.com/office/powerpoint/2010/main" val="4104748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401026F-F1B0-4023-B4A0-A3D8B50537F2}"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01026F-F1B0-4023-B4A0-A3D8B50537F2}"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12/20/2023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BDE36E3-064B-4319-8971-DB24598FB7A4}" type="datetimeFigureOut">
              <a:rPr lang="en-US" smtClean="0"/>
              <a:pPr/>
              <a:t>12/20/2023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401026F-F1B0-4023-B4A0-A3D8B50537F2}"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sitepoint.com/php/" TargetMode="External"/><Relationship Id="rId7" Type="http://schemas.openxmlformats.org/officeDocument/2006/relationships/hyperlink" Target="https://www.apachefriends.org/download.html" TargetMode="External"/><Relationship Id="rId2" Type="http://schemas.openxmlformats.org/officeDocument/2006/relationships/hyperlink" Target="https://www.w3schools.com/php/default.asp" TargetMode="External"/><Relationship Id="rId1" Type="http://schemas.openxmlformats.org/officeDocument/2006/relationships/slideLayout" Target="../slideLayouts/slideLayout2.xml"/><Relationship Id="rId6" Type="http://schemas.openxmlformats.org/officeDocument/2006/relationships/hyperlink" Target="http://www.mysqltutorial.org/" TargetMode="External"/><Relationship Id="rId5" Type="http://schemas.openxmlformats.org/officeDocument/2006/relationships/hyperlink" Target="https://www.mysql.com/" TargetMode="External"/><Relationship Id="rId4" Type="http://schemas.openxmlformats.org/officeDocument/2006/relationships/hyperlink" Target="https://www.php.net/"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0100" y="928670"/>
            <a:ext cx="8429684" cy="4084506"/>
          </a:xfrm>
        </p:spPr>
        <p:txBody>
          <a:bodyPr>
            <a:normAutofit/>
          </a:bodyPr>
          <a:lstStyle/>
          <a:p>
            <a:pPr algn="ctr"/>
            <a:r>
              <a:rPr lang="en-US" sz="5400" b="1" u="sng" dirty="0"/>
              <a:t>Water Supply Management System</a:t>
            </a:r>
            <a:r>
              <a:rPr lang="en-US" b="1" u="sng" dirty="0"/>
              <a:t/>
            </a:r>
            <a:br>
              <a:rPr lang="en-US" b="1" u="sng" dirty="0"/>
            </a:br>
            <a:r>
              <a:rPr lang="en-US" b="1" u="sng" dirty="0"/>
              <a:t/>
            </a:r>
            <a:br>
              <a:rPr lang="en-US" b="1" u="sng" dirty="0"/>
            </a:br>
            <a:r>
              <a:rPr lang="en-US" sz="3200" b="1" u="sng" dirty="0"/>
              <a:t>Developed in PHP &amp; MySQL</a:t>
            </a: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5369B0-BB9F-784F-4B98-FB926F0C3A62}"/>
              </a:ext>
            </a:extLst>
          </p:cNvPr>
          <p:cNvSpPr>
            <a:spLocks noGrp="1"/>
          </p:cNvSpPr>
          <p:nvPr>
            <p:ph type="title"/>
          </p:nvPr>
        </p:nvSpPr>
        <p:spPr>
          <a:xfrm>
            <a:off x="1435608" y="0"/>
            <a:ext cx="7498080" cy="980728"/>
          </a:xfrm>
        </p:spPr>
        <p:txBody>
          <a:bodyPr/>
          <a:lstStyle/>
          <a:p>
            <a:pPr algn="ctr"/>
            <a:r>
              <a:rPr lang="en-IN" b="1" dirty="0" smtClean="0"/>
              <a:t>Introduction</a:t>
            </a:r>
            <a:endParaRPr lang="en-IN" b="1" dirty="0"/>
          </a:p>
        </p:txBody>
      </p:sp>
      <p:sp>
        <p:nvSpPr>
          <p:cNvPr id="4" name="Content Placeholder 3"/>
          <p:cNvSpPr>
            <a:spLocks noGrp="1"/>
          </p:cNvSpPr>
          <p:nvPr>
            <p:ph idx="1"/>
          </p:nvPr>
        </p:nvSpPr>
        <p:spPr>
          <a:xfrm>
            <a:off x="1259632" y="764704"/>
            <a:ext cx="7674056" cy="6192688"/>
          </a:xfrm>
        </p:spPr>
        <p:txBody>
          <a:bodyPr>
            <a:normAutofit fontScale="77500" lnSpcReduction="20000"/>
          </a:bodyPr>
          <a:lstStyle/>
          <a:p>
            <a:pPr algn="just"/>
            <a:r>
              <a:rPr lang="en-US" dirty="0"/>
              <a:t>The Water Supply Management System (WSMS) is a web based application that can be accessed over the web. This system can be used to automate the workflow of water supply and their invoices. </a:t>
            </a:r>
          </a:p>
          <a:p>
            <a:pPr algn="just"/>
            <a:r>
              <a:rPr lang="en-US" dirty="0"/>
              <a:t>The project has been planned to be having the view of distributed architecture, with centralized storage of the database. The application for the storage of the data has been planned. Using the constructs of MySQL Server and all the user interfaces has been designed using the PHP technologies. The database connectivity is planned using the “MySQL Connection” methodology. The standards of security and data protective mechanism have been given a big choice for proper usage. The application takes care of different modules and their associated reports, which are produced as per the applicable strategies and standards that are put forwarded by the administrative staff.</a:t>
            </a:r>
          </a:p>
          <a:p>
            <a:pPr marL="82296" indent="0">
              <a:buNone/>
            </a:pPr>
            <a:endParaRPr lang="en-US" dirty="0"/>
          </a:p>
        </p:txBody>
      </p:sp>
    </p:spTree>
    <p:extLst>
      <p:ext uri="{BB962C8B-B14F-4D97-AF65-F5344CB8AC3E}">
        <p14:creationId xmlns:p14="http://schemas.microsoft.com/office/powerpoint/2010/main" val="9146626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836712"/>
          </a:xfrm>
        </p:spPr>
        <p:txBody>
          <a:bodyPr/>
          <a:lstStyle/>
          <a:p>
            <a:pPr algn="ctr"/>
            <a:r>
              <a:rPr lang="en-US" b="1" dirty="0" smtClean="0"/>
              <a:t>Purpose of the Project</a:t>
            </a:r>
            <a:endParaRPr lang="en-US" b="1" dirty="0"/>
          </a:p>
        </p:txBody>
      </p:sp>
      <p:sp>
        <p:nvSpPr>
          <p:cNvPr id="3" name="Content Placeholder 2"/>
          <p:cNvSpPr>
            <a:spLocks noGrp="1"/>
          </p:cNvSpPr>
          <p:nvPr>
            <p:ph idx="1"/>
          </p:nvPr>
        </p:nvSpPr>
        <p:spPr>
          <a:xfrm>
            <a:off x="1043608" y="1052736"/>
            <a:ext cx="7890080" cy="5328592"/>
          </a:xfrm>
        </p:spPr>
        <p:txBody>
          <a:bodyPr>
            <a:normAutofit/>
          </a:bodyPr>
          <a:lstStyle/>
          <a:p>
            <a:pPr marL="82296" indent="0" algn="just">
              <a:buNone/>
            </a:pPr>
            <a:r>
              <a:rPr lang="en-US" dirty="0"/>
              <a:t>This project is aimed at developing a web based Water Supply management System Tool, which is of importance to either an small water supplier. This is an web based application that can be accessed over the web . This system can be used to automate the workflow of water supply and their invoices. There are features like water bottle booking, </a:t>
            </a:r>
            <a:r>
              <a:rPr lang="en-US" dirty="0" err="1"/>
              <a:t>tracking,invoice</a:t>
            </a:r>
            <a:r>
              <a:rPr lang="en-US" dirty="0"/>
              <a:t>, report generators etc. in this Tool.</a:t>
            </a:r>
          </a:p>
          <a:p>
            <a:pPr marL="82296" indent="0">
              <a:buNone/>
            </a:pPr>
            <a:endParaRPr lang="en-US" dirty="0"/>
          </a:p>
        </p:txBody>
      </p:sp>
    </p:spTree>
    <p:extLst>
      <p:ext uri="{BB962C8B-B14F-4D97-AF65-F5344CB8AC3E}">
        <p14:creationId xmlns:p14="http://schemas.microsoft.com/office/powerpoint/2010/main" val="3553547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728" y="285728"/>
            <a:ext cx="7498080" cy="714380"/>
          </a:xfrm>
        </p:spPr>
        <p:txBody>
          <a:bodyPr>
            <a:normAutofit fontScale="90000"/>
          </a:bodyPr>
          <a:lstStyle/>
          <a:p>
            <a:pPr algn="ctr"/>
            <a:r>
              <a:rPr lang="en-US" sz="4400" b="1" u="sng" dirty="0"/>
              <a:t>Project</a:t>
            </a:r>
            <a:r>
              <a:rPr lang="en-US" sz="4900" b="1" u="sng" dirty="0"/>
              <a:t> </a:t>
            </a:r>
            <a:r>
              <a:rPr lang="en-US" sz="4400" b="1" u="sng" dirty="0"/>
              <a:t>Modules</a:t>
            </a:r>
            <a:r>
              <a:rPr lang="en-US" dirty="0"/>
              <a:t/>
            </a:r>
            <a:br>
              <a:rPr lang="en-US" dirty="0"/>
            </a:br>
            <a:endParaRPr lang="en-US" dirty="0"/>
          </a:p>
        </p:txBody>
      </p:sp>
      <p:sp>
        <p:nvSpPr>
          <p:cNvPr id="3" name="Content Placeholder 2"/>
          <p:cNvSpPr>
            <a:spLocks noGrp="1"/>
          </p:cNvSpPr>
          <p:nvPr>
            <p:ph idx="1"/>
          </p:nvPr>
        </p:nvSpPr>
        <p:spPr>
          <a:xfrm>
            <a:off x="1331640" y="857232"/>
            <a:ext cx="7602048" cy="5391168"/>
          </a:xfrm>
        </p:spPr>
        <p:txBody>
          <a:bodyPr>
            <a:normAutofit/>
          </a:bodyPr>
          <a:lstStyle/>
          <a:p>
            <a:r>
              <a:rPr lang="en-US" dirty="0"/>
              <a:t>In WSMS we use PHP and </a:t>
            </a:r>
            <a:r>
              <a:rPr lang="en-US" dirty="0" err="1"/>
              <a:t>Mysql</a:t>
            </a:r>
            <a:r>
              <a:rPr lang="en-US" dirty="0"/>
              <a:t> database. In this project any person can order drinking water bottle online. It has two modules admin and user</a:t>
            </a:r>
            <a:r>
              <a:rPr lang="en-US" dirty="0" smtClean="0"/>
              <a:t>.</a:t>
            </a:r>
          </a:p>
          <a:p>
            <a:pPr>
              <a:buFont typeface="Wingdings" panose="05000000000000000000" pitchFamily="2" charset="2"/>
              <a:buChar char="Ø"/>
            </a:pPr>
            <a:r>
              <a:rPr lang="en-US" dirty="0" smtClean="0"/>
              <a:t>Admin</a:t>
            </a:r>
          </a:p>
          <a:p>
            <a:pPr>
              <a:buFont typeface="Wingdings" panose="05000000000000000000" pitchFamily="2" charset="2"/>
              <a:buChar char="Ø"/>
            </a:pPr>
            <a:r>
              <a:rPr lang="en-US" dirty="0" smtClean="0"/>
              <a:t>User</a:t>
            </a:r>
            <a:endParaRPr lang="en-US" dirty="0"/>
          </a:p>
          <a:p>
            <a:pPr marL="82296" indent="0">
              <a:lnSpc>
                <a:spcPct val="115000"/>
              </a:lnSpc>
              <a:spcAft>
                <a:spcPts val="1000"/>
              </a:spcAft>
              <a:buNone/>
            </a:pPr>
            <a:endParaRPr lang="en-IN" b="1" u="sng" dirty="0">
              <a:effectLst/>
              <a:latin typeface="Calibri" panose="020F0502020204030204" pitchFamily="34" charset="0"/>
              <a:ea typeface="Times New Roman" panose="02020603050405020304" pitchFamily="18" charset="0"/>
              <a:cs typeface="Times New Roman" panose="02020603050405020304" pitchFamily="18" charset="0"/>
            </a:endParaRPr>
          </a:p>
          <a:p>
            <a:pPr marL="82296" indent="0">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C94F28-49AE-774F-083E-DD44D65AB3B9}"/>
              </a:ext>
            </a:extLst>
          </p:cNvPr>
          <p:cNvSpPr>
            <a:spLocks noGrp="1"/>
          </p:cNvSpPr>
          <p:nvPr>
            <p:ph type="title"/>
          </p:nvPr>
        </p:nvSpPr>
        <p:spPr>
          <a:xfrm>
            <a:off x="1363020" y="-27776"/>
            <a:ext cx="7498080" cy="1080120"/>
          </a:xfrm>
        </p:spPr>
        <p:txBody>
          <a:bodyPr/>
          <a:lstStyle/>
          <a:p>
            <a:pPr algn="ctr"/>
            <a:r>
              <a:rPr lang="en-IN" b="1" dirty="0"/>
              <a:t>Admin Module</a:t>
            </a:r>
          </a:p>
        </p:txBody>
      </p:sp>
      <p:sp>
        <p:nvSpPr>
          <p:cNvPr id="3" name="Content Placeholder 2">
            <a:extLst>
              <a:ext uri="{FF2B5EF4-FFF2-40B4-BE49-F238E27FC236}">
                <a16:creationId xmlns:a16="http://schemas.microsoft.com/office/drawing/2014/main" xmlns="" id="{537E97F1-8CFB-5A8E-5E21-EF71AA6F3E85}"/>
              </a:ext>
            </a:extLst>
          </p:cNvPr>
          <p:cNvSpPr>
            <a:spLocks noGrp="1"/>
          </p:cNvSpPr>
          <p:nvPr>
            <p:ph idx="1"/>
          </p:nvPr>
        </p:nvSpPr>
        <p:spPr>
          <a:xfrm>
            <a:off x="1187624" y="908720"/>
            <a:ext cx="7848872" cy="5904656"/>
          </a:xfrm>
        </p:spPr>
        <p:txBody>
          <a:bodyPr>
            <a:normAutofit/>
          </a:bodyPr>
          <a:lstStyle/>
          <a:p>
            <a:pPr fontAlgn="base"/>
            <a:r>
              <a:rPr lang="en-US" sz="1800" b="1" dirty="0"/>
              <a:t>Dashboard: </a:t>
            </a:r>
            <a:r>
              <a:rPr lang="en-US" sz="1800" dirty="0"/>
              <a:t>In this section admin can see all detail in brief like total order, total new order, total accept order, total order deliver, total cancel order, total company and total register user.</a:t>
            </a:r>
          </a:p>
          <a:p>
            <a:pPr fontAlgn="base"/>
            <a:r>
              <a:rPr lang="en-US" sz="1800" b="1" dirty="0"/>
              <a:t>Water Bottle info: </a:t>
            </a:r>
            <a:r>
              <a:rPr lang="en-US" sz="1800" dirty="0"/>
              <a:t>In this section admin can manage water </a:t>
            </a:r>
            <a:r>
              <a:rPr lang="en-US" sz="1800" dirty="0" smtClean="0"/>
              <a:t>bottle(Add/Update/delete).</a:t>
            </a:r>
            <a:endParaRPr lang="en-US" sz="1800" dirty="0"/>
          </a:p>
          <a:p>
            <a:pPr fontAlgn="base"/>
            <a:r>
              <a:rPr lang="en-US" sz="1800" b="1" dirty="0"/>
              <a:t>Company Info: </a:t>
            </a:r>
            <a:r>
              <a:rPr lang="en-US" sz="1800" dirty="0"/>
              <a:t>In this section admin can manage </a:t>
            </a:r>
            <a:r>
              <a:rPr lang="en-US" sz="1800" dirty="0" smtClean="0"/>
              <a:t>company(Add/Update/delete).</a:t>
            </a:r>
            <a:endParaRPr lang="en-US" sz="1800" dirty="0"/>
          </a:p>
          <a:p>
            <a:pPr fontAlgn="base"/>
            <a:r>
              <a:rPr lang="en-US" sz="1800" b="1" dirty="0"/>
              <a:t>Pages: </a:t>
            </a:r>
            <a:r>
              <a:rPr lang="en-US" sz="1800" dirty="0"/>
              <a:t>In this section admin can update about us and contact us information.</a:t>
            </a:r>
          </a:p>
          <a:p>
            <a:pPr fontAlgn="base"/>
            <a:r>
              <a:rPr lang="en-US" sz="1800" b="1" dirty="0"/>
              <a:t>Orders Management: </a:t>
            </a:r>
            <a:r>
              <a:rPr lang="en-US" sz="1800" dirty="0"/>
              <a:t>In this section admin can view the order details and they have also right to change order status according to current status.</a:t>
            </a:r>
          </a:p>
          <a:p>
            <a:pPr fontAlgn="base"/>
            <a:r>
              <a:rPr lang="en-US" sz="1800" b="1" dirty="0"/>
              <a:t>Latest News/Updates: </a:t>
            </a:r>
            <a:r>
              <a:rPr lang="en-US" sz="1800" dirty="0"/>
              <a:t>In this section admin can manage </a:t>
            </a:r>
            <a:r>
              <a:rPr lang="en-US" sz="1800" dirty="0" smtClean="0"/>
              <a:t>news(Add/Update/Delete).</a:t>
            </a:r>
            <a:endParaRPr lang="en-US" sz="1800" dirty="0"/>
          </a:p>
          <a:p>
            <a:pPr fontAlgn="base"/>
            <a:r>
              <a:rPr lang="en-US" sz="1800" b="1" dirty="0" err="1"/>
              <a:t>Reg</a:t>
            </a:r>
            <a:r>
              <a:rPr lang="en-US" sz="1800" b="1" dirty="0"/>
              <a:t> Users: </a:t>
            </a:r>
            <a:r>
              <a:rPr lang="en-US" sz="1800" dirty="0"/>
              <a:t>In this section admin can view register users.</a:t>
            </a:r>
          </a:p>
          <a:p>
            <a:pPr fontAlgn="base"/>
            <a:r>
              <a:rPr lang="en-US" sz="1800" b="1" dirty="0"/>
              <a:t>Search: </a:t>
            </a:r>
            <a:r>
              <a:rPr lang="en-US" sz="1800" dirty="0"/>
              <a:t>In this section admin can search particular order with the help of order number.</a:t>
            </a:r>
          </a:p>
          <a:p>
            <a:pPr fontAlgn="base"/>
            <a:r>
              <a:rPr lang="en-US" sz="1800" b="1" dirty="0"/>
              <a:t>Reports: </a:t>
            </a:r>
            <a:r>
              <a:rPr lang="en-US" sz="1800" dirty="0"/>
              <a:t>In this section admin can view order details, order counts and sales report according to dates.</a:t>
            </a:r>
          </a:p>
          <a:p>
            <a:pPr fontAlgn="base"/>
            <a:r>
              <a:rPr lang="en-US" sz="1800" dirty="0"/>
              <a:t>Admin can also update his profile, change password and recover password.</a:t>
            </a:r>
          </a:p>
          <a:p>
            <a:pPr marL="0" lvl="0" indent="0">
              <a:lnSpc>
                <a:spcPct val="115000"/>
              </a:lnSpc>
              <a:buNone/>
            </a:pPr>
            <a:endParaRPr lang="en-IN"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504272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43408"/>
            <a:ext cx="7498080" cy="1152128"/>
          </a:xfrm>
        </p:spPr>
        <p:txBody>
          <a:bodyPr/>
          <a:lstStyle/>
          <a:p>
            <a:pPr algn="ctr"/>
            <a:r>
              <a:rPr lang="en-US" b="1" dirty="0" smtClean="0"/>
              <a:t>User Module</a:t>
            </a:r>
            <a:endParaRPr lang="en-US" b="1" dirty="0"/>
          </a:p>
        </p:txBody>
      </p:sp>
      <p:sp>
        <p:nvSpPr>
          <p:cNvPr id="3" name="Content Placeholder 2"/>
          <p:cNvSpPr>
            <a:spLocks noGrp="1"/>
          </p:cNvSpPr>
          <p:nvPr>
            <p:ph idx="1"/>
          </p:nvPr>
        </p:nvSpPr>
        <p:spPr>
          <a:xfrm>
            <a:off x="1435608" y="908720"/>
            <a:ext cx="7498080" cy="5339680"/>
          </a:xfrm>
        </p:spPr>
        <p:txBody>
          <a:bodyPr>
            <a:normAutofit fontScale="77500" lnSpcReduction="20000"/>
          </a:bodyPr>
          <a:lstStyle/>
          <a:p>
            <a:pPr>
              <a:buFont typeface="Wingdings" panose="05000000000000000000" pitchFamily="2" charset="2"/>
              <a:buChar char="Ø"/>
            </a:pPr>
            <a:r>
              <a:rPr lang="en-US" b="1" dirty="0" smtClean="0"/>
              <a:t>Water </a:t>
            </a:r>
            <a:r>
              <a:rPr lang="en-US" b="1" dirty="0"/>
              <a:t>Bottle: </a:t>
            </a:r>
            <a:r>
              <a:rPr lang="en-US" dirty="0"/>
              <a:t>In this section user can view which drinking bottle available</a:t>
            </a:r>
            <a:r>
              <a:rPr lang="en-US" dirty="0" smtClean="0"/>
              <a:t>.</a:t>
            </a:r>
          </a:p>
          <a:p>
            <a:pPr>
              <a:buFont typeface="Wingdings" panose="05000000000000000000" pitchFamily="2" charset="2"/>
              <a:buChar char="Ø"/>
            </a:pPr>
            <a:r>
              <a:rPr lang="en-US" b="1" dirty="0" smtClean="0"/>
              <a:t>My </a:t>
            </a:r>
            <a:r>
              <a:rPr lang="en-US" b="1" dirty="0"/>
              <a:t>Accounts: </a:t>
            </a:r>
            <a:r>
              <a:rPr lang="en-US" dirty="0"/>
              <a:t>In this section user can change his/her own password , view and update his/her profile and logout from accounts</a:t>
            </a:r>
            <a:r>
              <a:rPr lang="en-US" dirty="0" smtClean="0"/>
              <a:t>.</a:t>
            </a:r>
          </a:p>
          <a:p>
            <a:pPr>
              <a:buFont typeface="Wingdings" panose="05000000000000000000" pitchFamily="2" charset="2"/>
              <a:buChar char="Ø"/>
            </a:pPr>
            <a:r>
              <a:rPr lang="en-US" b="1" dirty="0" smtClean="0"/>
              <a:t>My </a:t>
            </a:r>
            <a:r>
              <a:rPr lang="en-US" b="1" dirty="0"/>
              <a:t>orders: </a:t>
            </a:r>
            <a:r>
              <a:rPr lang="en-US" dirty="0"/>
              <a:t>In this section user can view order history after login</a:t>
            </a:r>
            <a:r>
              <a:rPr lang="en-US" dirty="0" smtClean="0"/>
              <a:t>.</a:t>
            </a:r>
          </a:p>
          <a:p>
            <a:pPr>
              <a:buFont typeface="Wingdings" panose="05000000000000000000" pitchFamily="2" charset="2"/>
              <a:buChar char="Ø"/>
            </a:pPr>
            <a:r>
              <a:rPr lang="en-US" b="1" dirty="0" smtClean="0"/>
              <a:t>Cart</a:t>
            </a:r>
            <a:r>
              <a:rPr lang="en-US" b="1" dirty="0"/>
              <a:t>: </a:t>
            </a:r>
            <a:r>
              <a:rPr lang="en-US" dirty="0"/>
              <a:t>In this section user  can add their drinking bottle which he/her want to order.</a:t>
            </a:r>
            <a:br>
              <a:rPr lang="en-US" dirty="0"/>
            </a:br>
            <a:r>
              <a:rPr lang="en-US" dirty="0" smtClean="0"/>
              <a:t>User </a:t>
            </a:r>
            <a:r>
              <a:rPr lang="en-US" dirty="0"/>
              <a:t>has also a facility to download his/her invoice and cancel order if he/her want to cancel</a:t>
            </a:r>
            <a:r>
              <a:rPr lang="en-US" dirty="0" smtClean="0"/>
              <a:t>.</a:t>
            </a:r>
          </a:p>
          <a:p>
            <a:pPr marL="82296" indent="0">
              <a:buNone/>
            </a:pPr>
            <a:r>
              <a:rPr lang="en-US" dirty="0"/>
              <a:t/>
            </a:r>
            <a:br>
              <a:rPr lang="en-US" dirty="0"/>
            </a:br>
            <a:r>
              <a:rPr lang="en-US" b="1" dirty="0"/>
              <a:t>Brief Information about homepage</a:t>
            </a:r>
            <a:r>
              <a:rPr lang="en-US" dirty="0"/>
              <a:t/>
            </a:r>
            <a:br>
              <a:rPr lang="en-US" dirty="0"/>
            </a:br>
            <a:r>
              <a:rPr lang="en-US" dirty="0"/>
              <a:t>On this page guest user can only view about us page, contact us page and which drinking bottle is available if anybody want to order the bottle they must registered.</a:t>
            </a:r>
          </a:p>
        </p:txBody>
      </p:sp>
    </p:spTree>
    <p:extLst>
      <p:ext uri="{BB962C8B-B14F-4D97-AF65-F5344CB8AC3E}">
        <p14:creationId xmlns:p14="http://schemas.microsoft.com/office/powerpoint/2010/main" val="291471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a:t>Requirement Specification</a:t>
            </a:r>
            <a:r>
              <a:rPr lang="en-US" dirty="0"/>
              <a:t/>
            </a:r>
            <a:br>
              <a:rPr lang="en-US" dirty="0"/>
            </a:br>
            <a:endParaRPr lang="en-US" dirty="0"/>
          </a:p>
        </p:txBody>
      </p:sp>
      <p:sp>
        <p:nvSpPr>
          <p:cNvPr id="3" name="Content Placeholder 2"/>
          <p:cNvSpPr>
            <a:spLocks noGrp="1"/>
          </p:cNvSpPr>
          <p:nvPr>
            <p:ph idx="1"/>
          </p:nvPr>
        </p:nvSpPr>
        <p:spPr>
          <a:xfrm>
            <a:off x="1435608" y="1142984"/>
            <a:ext cx="7498080" cy="5105416"/>
          </a:xfrm>
        </p:spPr>
        <p:txBody>
          <a:bodyPr/>
          <a:lstStyle/>
          <a:p>
            <a:pPr>
              <a:buFont typeface="Wingdings" pitchFamily="2" charset="2"/>
              <a:buChar char="Ø"/>
            </a:pPr>
            <a:r>
              <a:rPr lang="en-US" sz="2000" b="1" u="sng" dirty="0"/>
              <a:t>Hardware Configuration:</a:t>
            </a:r>
            <a:endParaRPr lang="en-US" sz="2000" dirty="0"/>
          </a:p>
          <a:p>
            <a:pPr>
              <a:buNone/>
            </a:pPr>
            <a:r>
              <a:rPr lang="en-IN" sz="2400" dirty="0"/>
              <a:t>    </a:t>
            </a:r>
            <a:r>
              <a:rPr lang="en-IN" sz="1800" b="1" dirty="0"/>
              <a:t>Client Side</a:t>
            </a:r>
          </a:p>
          <a:p>
            <a:pPr>
              <a:buNone/>
            </a:pPr>
            <a:endParaRPr lang="en-IN" sz="1800" b="1" dirty="0"/>
          </a:p>
          <a:p>
            <a:pPr>
              <a:buNone/>
            </a:pPr>
            <a:endParaRPr lang="en-IN" sz="1800" b="1" dirty="0"/>
          </a:p>
          <a:p>
            <a:pPr>
              <a:buNone/>
            </a:pPr>
            <a:endParaRPr lang="en-IN" sz="1800" b="1" dirty="0"/>
          </a:p>
          <a:p>
            <a:pPr>
              <a:buNone/>
            </a:pPr>
            <a:r>
              <a:rPr lang="en-IN" sz="1800" b="1" dirty="0"/>
              <a:t>  </a:t>
            </a:r>
          </a:p>
          <a:p>
            <a:pPr>
              <a:buNone/>
            </a:pPr>
            <a:r>
              <a:rPr lang="en-IN" sz="1800" b="1" dirty="0"/>
              <a:t>  </a:t>
            </a:r>
          </a:p>
          <a:p>
            <a:pPr>
              <a:buNone/>
            </a:pPr>
            <a:r>
              <a:rPr lang="en-IN" sz="1800" b="1" dirty="0"/>
              <a:t>    Server Side</a:t>
            </a:r>
            <a:endParaRPr lang="en-US" sz="2400" b="1" dirty="0"/>
          </a:p>
        </p:txBody>
      </p:sp>
      <p:graphicFrame>
        <p:nvGraphicFramePr>
          <p:cNvPr id="4" name="Table 3"/>
          <p:cNvGraphicFramePr>
            <a:graphicFrameLocks noGrp="1"/>
          </p:cNvGraphicFramePr>
          <p:nvPr/>
        </p:nvGraphicFramePr>
        <p:xfrm>
          <a:off x="1857356" y="4429132"/>
          <a:ext cx="6096000" cy="1107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xmlns="" val="20000"/>
                    </a:ext>
                  </a:extLst>
                </a:gridCol>
                <a:gridCol w="3048000">
                  <a:extLst>
                    <a:ext uri="{9D8B030D-6E8A-4147-A177-3AD203B41FA5}">
                      <a16:colId xmlns:a16="http://schemas.microsoft.com/office/drawing/2014/main" xmlns="" val="20001"/>
                    </a:ext>
                  </a:extLst>
                </a:gridCol>
              </a:tblGrid>
              <a:tr h="0">
                <a:tc>
                  <a:txBody>
                    <a:bodyPr/>
                    <a:lstStyle/>
                    <a:p>
                      <a:r>
                        <a:rPr lang="en-IN" dirty="0"/>
                        <a:t>RAM</a:t>
                      </a:r>
                      <a:endParaRPr lang="en-US" dirty="0"/>
                    </a:p>
                  </a:txBody>
                  <a:tcPr/>
                </a:tc>
                <a:tc>
                  <a:txBody>
                    <a:bodyPr/>
                    <a:lstStyle/>
                    <a:p>
                      <a:r>
                        <a:rPr lang="en-IN" dirty="0"/>
                        <a:t>1 GB</a:t>
                      </a:r>
                      <a:endParaRPr lang="en-US" dirty="0"/>
                    </a:p>
                  </a:txBody>
                  <a:tcPr/>
                </a:tc>
                <a:extLst>
                  <a:ext uri="{0D108BD9-81ED-4DB2-BD59-A6C34878D82A}">
                    <a16:rowId xmlns:a16="http://schemas.microsoft.com/office/drawing/2014/main" xmlns="" val="10000"/>
                  </a:ext>
                </a:extLst>
              </a:tr>
              <a:tr h="370840">
                <a:tc>
                  <a:txBody>
                    <a:bodyPr/>
                    <a:lstStyle/>
                    <a:p>
                      <a:r>
                        <a:rPr lang="en-IN" dirty="0"/>
                        <a:t>Hard Disk</a:t>
                      </a:r>
                      <a:endParaRPr lang="en-US" dirty="0"/>
                    </a:p>
                  </a:txBody>
                  <a:tcPr/>
                </a:tc>
                <a:tc>
                  <a:txBody>
                    <a:bodyPr/>
                    <a:lstStyle/>
                    <a:p>
                      <a:r>
                        <a:rPr lang="en-IN" dirty="0"/>
                        <a:t>20GB</a:t>
                      </a:r>
                      <a:endParaRPr lang="en-US" dirty="0"/>
                    </a:p>
                  </a:txBody>
                  <a:tcPr/>
                </a:tc>
                <a:extLst>
                  <a:ext uri="{0D108BD9-81ED-4DB2-BD59-A6C34878D82A}">
                    <a16:rowId xmlns:a16="http://schemas.microsoft.com/office/drawing/2014/main" xmlns="" val="10001"/>
                  </a:ext>
                </a:extLst>
              </a:tr>
              <a:tr h="370840">
                <a:tc>
                  <a:txBody>
                    <a:bodyPr/>
                    <a:lstStyle/>
                    <a:p>
                      <a:r>
                        <a:rPr lang="en-IN" dirty="0"/>
                        <a:t>Processor</a:t>
                      </a:r>
                      <a:endParaRPr lang="en-US" dirty="0"/>
                    </a:p>
                  </a:txBody>
                  <a:tcPr/>
                </a:tc>
                <a:tc>
                  <a:txBody>
                    <a:bodyPr/>
                    <a:lstStyle/>
                    <a:p>
                      <a:r>
                        <a:rPr lang="en-IN" dirty="0"/>
                        <a:t>2.0GHz</a:t>
                      </a:r>
                      <a:endParaRPr lang="en-US" dirty="0"/>
                    </a:p>
                  </a:txBody>
                  <a:tcPr/>
                </a:tc>
                <a:extLst>
                  <a:ext uri="{0D108BD9-81ED-4DB2-BD59-A6C34878D82A}">
                    <a16:rowId xmlns:a16="http://schemas.microsoft.com/office/drawing/2014/main" xmlns="" val="10002"/>
                  </a:ext>
                </a:extLst>
              </a:tr>
            </a:tbl>
          </a:graphicData>
        </a:graphic>
      </p:graphicFrame>
      <p:graphicFrame>
        <p:nvGraphicFramePr>
          <p:cNvPr id="5" name="Table 4"/>
          <p:cNvGraphicFramePr>
            <a:graphicFrameLocks noGrp="1"/>
          </p:cNvGraphicFramePr>
          <p:nvPr/>
        </p:nvGraphicFramePr>
        <p:xfrm>
          <a:off x="1785918" y="2285992"/>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xmlns="" val="20000"/>
                    </a:ext>
                  </a:extLst>
                </a:gridCol>
                <a:gridCol w="3048000">
                  <a:extLst>
                    <a:ext uri="{9D8B030D-6E8A-4147-A177-3AD203B41FA5}">
                      <a16:colId xmlns:a16="http://schemas.microsoft.com/office/drawing/2014/main" xmlns="" val="20001"/>
                    </a:ext>
                  </a:extLst>
                </a:gridCol>
              </a:tblGrid>
              <a:tr h="370840">
                <a:tc>
                  <a:txBody>
                    <a:bodyPr/>
                    <a:lstStyle/>
                    <a:p>
                      <a:r>
                        <a:rPr lang="en-IN" dirty="0"/>
                        <a:t>RAM</a:t>
                      </a:r>
                      <a:endParaRPr lang="en-US" dirty="0"/>
                    </a:p>
                  </a:txBody>
                  <a:tcPr/>
                </a:tc>
                <a:tc>
                  <a:txBody>
                    <a:bodyPr/>
                    <a:lstStyle/>
                    <a:p>
                      <a:r>
                        <a:rPr lang="en-IN" dirty="0"/>
                        <a:t>512 MB</a:t>
                      </a:r>
                      <a:endParaRPr lang="en-US" dirty="0"/>
                    </a:p>
                  </a:txBody>
                  <a:tcPr/>
                </a:tc>
                <a:extLst>
                  <a:ext uri="{0D108BD9-81ED-4DB2-BD59-A6C34878D82A}">
                    <a16:rowId xmlns:a16="http://schemas.microsoft.com/office/drawing/2014/main" xmlns="" val="10000"/>
                  </a:ext>
                </a:extLst>
              </a:tr>
              <a:tr h="370840">
                <a:tc>
                  <a:txBody>
                    <a:bodyPr/>
                    <a:lstStyle/>
                    <a:p>
                      <a:r>
                        <a:rPr lang="en-IN" dirty="0"/>
                        <a:t>Hard Disk</a:t>
                      </a:r>
                      <a:endParaRPr lang="en-US" dirty="0"/>
                    </a:p>
                  </a:txBody>
                  <a:tcPr/>
                </a:tc>
                <a:tc>
                  <a:txBody>
                    <a:bodyPr/>
                    <a:lstStyle/>
                    <a:p>
                      <a:r>
                        <a:rPr lang="en-IN" dirty="0"/>
                        <a:t>10GB</a:t>
                      </a:r>
                      <a:endParaRPr lang="en-US" dirty="0"/>
                    </a:p>
                  </a:txBody>
                  <a:tcPr/>
                </a:tc>
                <a:extLst>
                  <a:ext uri="{0D108BD9-81ED-4DB2-BD59-A6C34878D82A}">
                    <a16:rowId xmlns:a16="http://schemas.microsoft.com/office/drawing/2014/main" xmlns="" val="10001"/>
                  </a:ext>
                </a:extLst>
              </a:tr>
              <a:tr h="370840">
                <a:tc>
                  <a:txBody>
                    <a:bodyPr/>
                    <a:lstStyle/>
                    <a:p>
                      <a:r>
                        <a:rPr lang="en-IN" dirty="0"/>
                        <a:t>Processor</a:t>
                      </a:r>
                      <a:endParaRPr lang="en-US" dirty="0"/>
                    </a:p>
                  </a:txBody>
                  <a:tcPr/>
                </a:tc>
                <a:tc>
                  <a:txBody>
                    <a:bodyPr/>
                    <a:lstStyle/>
                    <a:p>
                      <a:r>
                        <a:rPr lang="en-IN" dirty="0"/>
                        <a:t>1.0 GHz</a:t>
                      </a:r>
                      <a:endParaRPr lang="en-US" dirty="0"/>
                    </a:p>
                  </a:txBody>
                  <a:tcPr/>
                </a:tc>
                <a:extLst>
                  <a:ext uri="{0D108BD9-81ED-4DB2-BD59-A6C34878D82A}">
                    <a16:rowId xmlns:a16="http://schemas.microsoft.com/office/drawing/2014/main" xmlns="" val="10002"/>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785794"/>
          </a:xfrm>
        </p:spPr>
        <p:txBody>
          <a:bodyPr/>
          <a:lstStyle/>
          <a:p>
            <a:pPr algn="ctr"/>
            <a:r>
              <a:rPr lang="en-IN" b="1" dirty="0"/>
              <a:t>Continue.....</a:t>
            </a:r>
            <a:endParaRPr lang="en-US" b="1" dirty="0"/>
          </a:p>
        </p:txBody>
      </p:sp>
      <p:sp>
        <p:nvSpPr>
          <p:cNvPr id="3" name="Content Placeholder 2"/>
          <p:cNvSpPr>
            <a:spLocks noGrp="1"/>
          </p:cNvSpPr>
          <p:nvPr>
            <p:ph idx="1"/>
          </p:nvPr>
        </p:nvSpPr>
        <p:spPr>
          <a:xfrm>
            <a:off x="1435608" y="928670"/>
            <a:ext cx="7498080" cy="5319730"/>
          </a:xfrm>
        </p:spPr>
        <p:txBody>
          <a:bodyPr/>
          <a:lstStyle/>
          <a:p>
            <a:r>
              <a:rPr lang="en-US" sz="2000" b="1" u="sng" dirty="0"/>
              <a:t>Software Requirement:</a:t>
            </a:r>
          </a:p>
          <a:p>
            <a:pPr>
              <a:buNone/>
            </a:pPr>
            <a:r>
              <a:rPr lang="en-IN" sz="1800" b="1" dirty="0"/>
              <a:t>    Client Side</a:t>
            </a:r>
          </a:p>
          <a:p>
            <a:endParaRPr lang="en-IN" sz="2000" b="1" u="sng" dirty="0"/>
          </a:p>
          <a:p>
            <a:endParaRPr lang="en-IN" sz="2000" b="1" u="sng" dirty="0"/>
          </a:p>
          <a:p>
            <a:pPr>
              <a:buNone/>
            </a:pPr>
            <a:endParaRPr lang="en-US" sz="2000" b="1" u="sng" dirty="0"/>
          </a:p>
          <a:p>
            <a:pPr>
              <a:buNone/>
            </a:pPr>
            <a:r>
              <a:rPr lang="en-IN" sz="2000" dirty="0"/>
              <a:t> </a:t>
            </a:r>
          </a:p>
          <a:p>
            <a:pPr>
              <a:buNone/>
            </a:pPr>
            <a:r>
              <a:rPr lang="en-IN" sz="1800" b="1" dirty="0"/>
              <a:t>  Server Side</a:t>
            </a:r>
          </a:p>
          <a:p>
            <a:pPr>
              <a:buNone/>
            </a:pPr>
            <a:endParaRPr lang="en-US" sz="1800" b="1" dirty="0"/>
          </a:p>
        </p:txBody>
      </p:sp>
      <p:graphicFrame>
        <p:nvGraphicFramePr>
          <p:cNvPr id="4" name="Table 3"/>
          <p:cNvGraphicFramePr>
            <a:graphicFrameLocks noGrp="1"/>
          </p:cNvGraphicFramePr>
          <p:nvPr/>
        </p:nvGraphicFramePr>
        <p:xfrm>
          <a:off x="1643042" y="1857364"/>
          <a:ext cx="6905652" cy="1010920"/>
        </p:xfrm>
        <a:graphic>
          <a:graphicData uri="http://schemas.openxmlformats.org/drawingml/2006/table">
            <a:tbl>
              <a:tblPr firstRow="1" bandRow="1">
                <a:tableStyleId>{5C22544A-7EE6-4342-B048-85BDC9FD1C3A}</a:tableStyleId>
              </a:tblPr>
              <a:tblGrid>
                <a:gridCol w="3452826">
                  <a:extLst>
                    <a:ext uri="{9D8B030D-6E8A-4147-A177-3AD203B41FA5}">
                      <a16:colId xmlns:a16="http://schemas.microsoft.com/office/drawing/2014/main" xmlns="" val="20000"/>
                    </a:ext>
                  </a:extLst>
                </a:gridCol>
                <a:gridCol w="3452826">
                  <a:extLst>
                    <a:ext uri="{9D8B030D-6E8A-4147-A177-3AD203B41FA5}">
                      <a16:colId xmlns:a16="http://schemas.microsoft.com/office/drawing/2014/main" xmlns="" val="20001"/>
                    </a:ext>
                  </a:extLst>
                </a:gridCol>
              </a:tblGrid>
              <a:tr h="370840">
                <a:tc>
                  <a:txBody>
                    <a:bodyPr/>
                    <a:lstStyle/>
                    <a:p>
                      <a:r>
                        <a:rPr lang="en-IN" dirty="0"/>
                        <a:t>Web Browser</a:t>
                      </a:r>
                      <a:endParaRPr lang="en-US" dirty="0"/>
                    </a:p>
                  </a:txBody>
                  <a:tcPr/>
                </a:tc>
                <a:tc>
                  <a:txBody>
                    <a:bodyPr/>
                    <a:lstStyle/>
                    <a:p>
                      <a:r>
                        <a:rPr kumimoji="0" lang="en-US" sz="1800" b="1" kern="1200" dirty="0">
                          <a:solidFill>
                            <a:schemeClr val="lt1"/>
                          </a:solidFill>
                          <a:latin typeface="+mn-lt"/>
                          <a:ea typeface="+mn-ea"/>
                          <a:cs typeface="+mn-cs"/>
                        </a:rPr>
                        <a:t>Google Chrome or any compatible browser</a:t>
                      </a:r>
                      <a:endParaRPr lang="en-US" dirty="0"/>
                    </a:p>
                  </a:txBody>
                  <a:tcPr/>
                </a:tc>
                <a:extLst>
                  <a:ext uri="{0D108BD9-81ED-4DB2-BD59-A6C34878D82A}">
                    <a16:rowId xmlns:a16="http://schemas.microsoft.com/office/drawing/2014/main" xmlns="" val="10000"/>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a16="http://schemas.microsoft.com/office/drawing/2014/main" xmlns="" val="10001"/>
                  </a:ext>
                </a:extLst>
              </a:tr>
            </a:tbl>
          </a:graphicData>
        </a:graphic>
      </p:graphicFrame>
      <p:graphicFrame>
        <p:nvGraphicFramePr>
          <p:cNvPr id="5" name="Table 4"/>
          <p:cNvGraphicFramePr>
            <a:graphicFrameLocks noGrp="1"/>
          </p:cNvGraphicFramePr>
          <p:nvPr/>
        </p:nvGraphicFramePr>
        <p:xfrm>
          <a:off x="1714480" y="3929066"/>
          <a:ext cx="6715172" cy="2123440"/>
        </p:xfrm>
        <a:graphic>
          <a:graphicData uri="http://schemas.openxmlformats.org/drawingml/2006/table">
            <a:tbl>
              <a:tblPr firstRow="1" bandRow="1">
                <a:tableStyleId>{5C22544A-7EE6-4342-B048-85BDC9FD1C3A}</a:tableStyleId>
              </a:tblPr>
              <a:tblGrid>
                <a:gridCol w="3357586">
                  <a:extLst>
                    <a:ext uri="{9D8B030D-6E8A-4147-A177-3AD203B41FA5}">
                      <a16:colId xmlns:a16="http://schemas.microsoft.com/office/drawing/2014/main" xmlns="" val="20000"/>
                    </a:ext>
                  </a:extLst>
                </a:gridCol>
                <a:gridCol w="3357586">
                  <a:extLst>
                    <a:ext uri="{9D8B030D-6E8A-4147-A177-3AD203B41FA5}">
                      <a16:colId xmlns:a16="http://schemas.microsoft.com/office/drawing/2014/main" xmlns="" val="20001"/>
                    </a:ext>
                  </a:extLst>
                </a:gridCol>
              </a:tblGrid>
              <a:tr h="370840">
                <a:tc>
                  <a:txBody>
                    <a:bodyPr/>
                    <a:lstStyle/>
                    <a:p>
                      <a:r>
                        <a:rPr kumimoji="0" lang="en-US" sz="1800" b="1" kern="1200" dirty="0">
                          <a:solidFill>
                            <a:schemeClr val="lt1"/>
                          </a:solidFill>
                          <a:latin typeface="+mn-lt"/>
                          <a:ea typeface="+mn-ea"/>
                          <a:cs typeface="+mn-cs"/>
                        </a:rPr>
                        <a:t>Web Server</a:t>
                      </a:r>
                      <a:endParaRPr lang="en-US" dirty="0"/>
                    </a:p>
                  </a:txBody>
                  <a:tcPr/>
                </a:tc>
                <a:tc>
                  <a:txBody>
                    <a:bodyPr/>
                    <a:lstStyle/>
                    <a:p>
                      <a:r>
                        <a:rPr kumimoji="0" lang="en-US" sz="1800" b="1" kern="1200" dirty="0">
                          <a:solidFill>
                            <a:schemeClr val="lt1"/>
                          </a:solidFill>
                          <a:latin typeface="+mn-lt"/>
                          <a:ea typeface="+mn-ea"/>
                          <a:cs typeface="+mn-cs"/>
                        </a:rPr>
                        <a:t>APACHE</a:t>
                      </a:r>
                      <a:endParaRPr lang="en-US" dirty="0"/>
                    </a:p>
                  </a:txBody>
                  <a:tcPr/>
                </a:tc>
                <a:extLst>
                  <a:ext uri="{0D108BD9-81ED-4DB2-BD59-A6C34878D82A}">
                    <a16:rowId xmlns:a16="http://schemas.microsoft.com/office/drawing/2014/main" xmlns="" val="10000"/>
                  </a:ext>
                </a:extLst>
              </a:tr>
              <a:tr h="370840">
                <a:tc>
                  <a:txBody>
                    <a:bodyPr/>
                    <a:lstStyle/>
                    <a:p>
                      <a:r>
                        <a:rPr kumimoji="0" lang="en-US" sz="1800" b="1" kern="1200" dirty="0">
                          <a:solidFill>
                            <a:schemeClr val="dk1"/>
                          </a:solidFill>
                          <a:latin typeface="+mn-lt"/>
                          <a:ea typeface="+mn-ea"/>
                          <a:cs typeface="+mn-cs"/>
                        </a:rPr>
                        <a:t>Server side Language</a:t>
                      </a:r>
                      <a:endParaRPr lang="en-US" dirty="0"/>
                    </a:p>
                  </a:txBody>
                  <a:tcPr/>
                </a:tc>
                <a:tc>
                  <a:txBody>
                    <a:bodyPr/>
                    <a:lstStyle/>
                    <a:p>
                      <a:r>
                        <a:rPr kumimoji="0" lang="en-US" sz="1800" kern="1200" dirty="0">
                          <a:solidFill>
                            <a:schemeClr val="dk1"/>
                          </a:solidFill>
                          <a:latin typeface="+mn-lt"/>
                          <a:ea typeface="+mn-ea"/>
                          <a:cs typeface="+mn-cs"/>
                        </a:rPr>
                        <a:t>PHP5.6 or above version</a:t>
                      </a:r>
                      <a:endParaRPr lang="en-US" dirty="0"/>
                    </a:p>
                  </a:txBody>
                  <a:tcPr/>
                </a:tc>
                <a:extLst>
                  <a:ext uri="{0D108BD9-81ED-4DB2-BD59-A6C34878D82A}">
                    <a16:rowId xmlns:a16="http://schemas.microsoft.com/office/drawing/2014/main" xmlns="" val="10001"/>
                  </a:ext>
                </a:extLst>
              </a:tr>
              <a:tr h="370840">
                <a:tc>
                  <a:txBody>
                    <a:bodyPr/>
                    <a:lstStyle/>
                    <a:p>
                      <a:r>
                        <a:rPr kumimoji="0" lang="en-US" sz="1800" b="1" kern="1200" dirty="0">
                          <a:solidFill>
                            <a:schemeClr val="dk1"/>
                          </a:solidFill>
                          <a:latin typeface="+mn-lt"/>
                          <a:ea typeface="+mn-ea"/>
                          <a:cs typeface="+mn-cs"/>
                        </a:rPr>
                        <a:t>Database Server</a:t>
                      </a:r>
                      <a:endParaRPr lang="en-US" dirty="0"/>
                    </a:p>
                  </a:txBody>
                  <a:tcPr/>
                </a:tc>
                <a:tc>
                  <a:txBody>
                    <a:bodyPr/>
                    <a:lstStyle/>
                    <a:p>
                      <a:r>
                        <a:rPr kumimoji="0" lang="en-US" sz="1800" kern="1200" dirty="0" err="1">
                          <a:solidFill>
                            <a:schemeClr val="dk1"/>
                          </a:solidFill>
                          <a:latin typeface="+mn-lt"/>
                          <a:ea typeface="+mn-ea"/>
                          <a:cs typeface="+mn-cs"/>
                        </a:rPr>
                        <a:t>MySQL</a:t>
                      </a:r>
                      <a:endParaRPr lang="en-US" dirty="0"/>
                    </a:p>
                  </a:txBody>
                  <a:tcPr/>
                </a:tc>
                <a:extLst>
                  <a:ext uri="{0D108BD9-81ED-4DB2-BD59-A6C34878D82A}">
                    <a16:rowId xmlns:a16="http://schemas.microsoft.com/office/drawing/2014/main" xmlns="" val="10002"/>
                  </a:ext>
                </a:extLst>
              </a:tr>
              <a:tr h="370840">
                <a:tc>
                  <a:txBody>
                    <a:bodyPr/>
                    <a:lstStyle/>
                    <a:p>
                      <a:r>
                        <a:rPr kumimoji="0" lang="en-US" sz="1800" b="1" kern="1200" dirty="0">
                          <a:solidFill>
                            <a:schemeClr val="dk1"/>
                          </a:solidFill>
                          <a:latin typeface="+mn-lt"/>
                          <a:ea typeface="+mn-ea"/>
                          <a:cs typeface="+mn-cs"/>
                        </a:rPr>
                        <a:t>Web Browser</a:t>
                      </a:r>
                      <a:endParaRPr lang="en-US" dirty="0"/>
                    </a:p>
                  </a:txBody>
                  <a:tcPr/>
                </a:tc>
                <a:tc>
                  <a:txBody>
                    <a:bodyPr/>
                    <a:lstStyle/>
                    <a:p>
                      <a:r>
                        <a:rPr kumimoji="0" lang="en-US" sz="1800" kern="1200" dirty="0">
                          <a:solidFill>
                            <a:schemeClr val="dk1"/>
                          </a:solidFill>
                          <a:latin typeface="+mn-lt"/>
                          <a:ea typeface="+mn-ea"/>
                          <a:cs typeface="+mn-cs"/>
                        </a:rPr>
                        <a:t>Google Chrome or any compatible browser</a:t>
                      </a:r>
                      <a:endParaRPr lang="en-US" dirty="0"/>
                    </a:p>
                  </a:txBody>
                  <a:tcPr/>
                </a:tc>
                <a:extLst>
                  <a:ext uri="{0D108BD9-81ED-4DB2-BD59-A6C34878D82A}">
                    <a16:rowId xmlns:a16="http://schemas.microsoft.com/office/drawing/2014/main" xmlns="" val="10003"/>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000108"/>
          </a:xfrm>
        </p:spPr>
        <p:txBody>
          <a:bodyPr/>
          <a:lstStyle/>
          <a:p>
            <a:pPr algn="ctr"/>
            <a:r>
              <a:rPr lang="en-IN" b="1" dirty="0"/>
              <a:t>Use Case Diagram</a:t>
            </a:r>
            <a:endParaRPr lang="en-US"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1340768"/>
            <a:ext cx="7890080" cy="5256584"/>
          </a:xfrm>
          <a:prstGeom prst="rect">
            <a:avLst/>
          </a:prstGeom>
        </p:spPr>
      </p:pic>
      <p:sp>
        <p:nvSpPr>
          <p:cNvPr id="5" name="TextBox 4"/>
          <p:cNvSpPr txBox="1"/>
          <p:nvPr/>
        </p:nvSpPr>
        <p:spPr>
          <a:xfrm>
            <a:off x="1259632" y="836712"/>
            <a:ext cx="3456384" cy="369332"/>
          </a:xfrm>
          <a:prstGeom prst="rect">
            <a:avLst/>
          </a:prstGeom>
          <a:noFill/>
        </p:spPr>
        <p:txBody>
          <a:bodyPr wrap="square" rtlCol="0">
            <a:spAutoFit/>
          </a:bodyPr>
          <a:lstStyle/>
          <a:p>
            <a:r>
              <a:rPr lang="en-US" b="1" dirty="0" smtClean="0"/>
              <a:t>Admin use case Diagram</a:t>
            </a:r>
            <a:endParaRPr lang="en-US"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47664" y="188640"/>
            <a:ext cx="3096344" cy="369332"/>
          </a:xfrm>
          <a:prstGeom prst="rect">
            <a:avLst/>
          </a:prstGeom>
          <a:noFill/>
        </p:spPr>
        <p:txBody>
          <a:bodyPr wrap="square" rtlCol="0">
            <a:spAutoFit/>
          </a:bodyPr>
          <a:lstStyle/>
          <a:p>
            <a:r>
              <a:rPr lang="en-US" b="1" dirty="0" smtClean="0"/>
              <a:t>User use case Diagram</a:t>
            </a:r>
            <a:endParaRPr lang="en-US"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836712"/>
            <a:ext cx="7497839" cy="5746522"/>
          </a:xfrm>
          <a:prstGeom prst="rect">
            <a:avLst/>
          </a:prstGeom>
        </p:spPr>
      </p:pic>
    </p:spTree>
    <p:extLst>
      <p:ext uri="{BB962C8B-B14F-4D97-AF65-F5344CB8AC3E}">
        <p14:creationId xmlns:p14="http://schemas.microsoft.com/office/powerpoint/2010/main" val="26660788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648" y="-315416"/>
            <a:ext cx="7498080" cy="1142984"/>
          </a:xfrm>
        </p:spPr>
        <p:txBody>
          <a:bodyPr/>
          <a:lstStyle/>
          <a:p>
            <a:pPr algn="ctr"/>
            <a:r>
              <a:rPr lang="en-IN" b="1" dirty="0"/>
              <a:t>ER Diagram</a:t>
            </a:r>
            <a:endParaRPr lang="en-US" b="1" dirty="0"/>
          </a:p>
        </p:txBody>
      </p:sp>
      <p:pic>
        <p:nvPicPr>
          <p:cNvPr id="5" name="Picture 4" descr="C:\Users\pande\Downloads\Untitled Diagram (2) (1).png"/>
          <p:cNvPicPr/>
          <p:nvPr/>
        </p:nvPicPr>
        <p:blipFill>
          <a:blip r:embed="rId2"/>
          <a:srcRect/>
          <a:stretch>
            <a:fillRect/>
          </a:stretch>
        </p:blipFill>
        <p:spPr bwMode="auto">
          <a:xfrm>
            <a:off x="1435100" y="908720"/>
            <a:ext cx="7466628" cy="56166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B199F2-AF9F-DB9A-77E0-00FEF2FAF8C0}"/>
              </a:ext>
            </a:extLst>
          </p:cNvPr>
          <p:cNvSpPr>
            <a:spLocks noGrp="1"/>
          </p:cNvSpPr>
          <p:nvPr>
            <p:ph type="title"/>
          </p:nvPr>
        </p:nvSpPr>
        <p:spPr/>
        <p:txBody>
          <a:bodyPr/>
          <a:lstStyle/>
          <a:p>
            <a:pPr algn="ctr"/>
            <a:r>
              <a:rPr lang="en-IN" b="1" dirty="0"/>
              <a:t>Dataflow Diagrams (DFDs)</a:t>
            </a:r>
          </a:p>
        </p:txBody>
      </p:sp>
      <p:sp>
        <p:nvSpPr>
          <p:cNvPr id="3" name="Content Placeholder 2">
            <a:extLst>
              <a:ext uri="{FF2B5EF4-FFF2-40B4-BE49-F238E27FC236}">
                <a16:creationId xmlns="" xmlns:a16="http://schemas.microsoft.com/office/drawing/2014/main" id="{6666F14B-DADB-066E-F2A5-FEA50377177D}"/>
              </a:ext>
            </a:extLst>
          </p:cNvPr>
          <p:cNvSpPr>
            <a:spLocks noGrp="1"/>
          </p:cNvSpPr>
          <p:nvPr>
            <p:ph idx="1"/>
          </p:nvPr>
        </p:nvSpPr>
        <p:spPr/>
        <p:txBody>
          <a:bodyPr>
            <a:normAutofit fontScale="77500" lnSpcReduction="20000"/>
          </a:bodyPr>
          <a:lstStyle/>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A Data Flow Diagram (DFD) is a traditional visual representation of the information flows within a system. A neat and clear DFD can depict the right amount of the system requirement graphically. It can be manual, automated, or a combination of both.</a:t>
            </a:r>
            <a:endParaRPr lang="en-IN" sz="3200" dirty="0">
              <a:effectLst/>
              <a:latin typeface="Times New Roman" panose="02020603050405020304" pitchFamily="18" charset="0"/>
              <a:ea typeface="Times New Roman" panose="02020603050405020304" pitchFamily="18" charset="0"/>
            </a:endParaRPr>
          </a:p>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It shows how data enters and leaves the system, what changes the information, and where data is stored.</a:t>
            </a:r>
            <a:endParaRPr lang="en-IN" sz="3200" dirty="0">
              <a:effectLst/>
              <a:latin typeface="Times New Roman" panose="02020603050405020304" pitchFamily="18" charset="0"/>
              <a:ea typeface="Times New Roman" panose="02020603050405020304" pitchFamily="18" charset="0"/>
            </a:endParaRPr>
          </a:p>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The objective of a DFD is to show the scope and boundaries of a system as a whole. It may be used as a communication tool between a system analyst and any person who plays a part in the order that acts as a starting point for redesigning a system. The DFD is also called as a data flow graph or bubble chart.</a:t>
            </a:r>
            <a:endParaRPr lang="en-IN" sz="32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401832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ANUJ\OneDrive\Pictures\Icecream Screen Recorder\Screenshot_2023_12_19-6.png"/>
          <p:cNvPicPr/>
          <p:nvPr/>
        </p:nvPicPr>
        <p:blipFill>
          <a:blip r:embed="rId2">
            <a:extLst>
              <a:ext uri="{28A0092B-C50C-407E-A947-70E740481C1C}">
                <a14:useLocalDpi xmlns:a14="http://schemas.microsoft.com/office/drawing/2010/main" val="0"/>
              </a:ext>
            </a:extLst>
          </a:blip>
          <a:srcRect/>
          <a:stretch>
            <a:fillRect/>
          </a:stretch>
        </p:blipFill>
        <p:spPr bwMode="auto">
          <a:xfrm>
            <a:off x="1331640" y="620688"/>
            <a:ext cx="7488832" cy="5112568"/>
          </a:xfrm>
          <a:prstGeom prst="rect">
            <a:avLst/>
          </a:prstGeom>
          <a:noFill/>
          <a:ln>
            <a:noFill/>
          </a:ln>
        </p:spPr>
      </p:pic>
    </p:spTree>
    <p:extLst>
      <p:ext uri="{BB962C8B-B14F-4D97-AF65-F5344CB8AC3E}">
        <p14:creationId xmlns:p14="http://schemas.microsoft.com/office/powerpoint/2010/main" val="41336968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ANUJ\OneDrive\Pictures\Icecream Screen Recorder\Screenshot_2023_12_19-7.png"/>
          <p:cNvPicPr/>
          <p:nvPr/>
        </p:nvPicPr>
        <p:blipFill>
          <a:blip r:embed="rId2">
            <a:extLst>
              <a:ext uri="{28A0092B-C50C-407E-A947-70E740481C1C}">
                <a14:useLocalDpi xmlns:a14="http://schemas.microsoft.com/office/drawing/2010/main" val="0"/>
              </a:ext>
            </a:extLst>
          </a:blip>
          <a:srcRect/>
          <a:stretch>
            <a:fillRect/>
          </a:stretch>
        </p:blipFill>
        <p:spPr bwMode="auto">
          <a:xfrm>
            <a:off x="1475656" y="980728"/>
            <a:ext cx="7560840" cy="5184576"/>
          </a:xfrm>
          <a:prstGeom prst="rect">
            <a:avLst/>
          </a:prstGeom>
          <a:noFill/>
          <a:ln>
            <a:noFill/>
          </a:ln>
        </p:spPr>
      </p:pic>
    </p:spTree>
    <p:extLst>
      <p:ext uri="{BB962C8B-B14F-4D97-AF65-F5344CB8AC3E}">
        <p14:creationId xmlns:p14="http://schemas.microsoft.com/office/powerpoint/2010/main" val="13838600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ANUJ\OneDrive\Pictures\Icecream Screen Recorder\Screenshot_2023_12_19-8.png"/>
          <p:cNvPicPr/>
          <p:nvPr/>
        </p:nvPicPr>
        <p:blipFill>
          <a:blip r:embed="rId2">
            <a:extLst>
              <a:ext uri="{28A0092B-C50C-407E-A947-70E740481C1C}">
                <a14:useLocalDpi xmlns:a14="http://schemas.microsoft.com/office/drawing/2010/main" val="0"/>
              </a:ext>
            </a:extLst>
          </a:blip>
          <a:srcRect/>
          <a:stretch>
            <a:fillRect/>
          </a:stretch>
        </p:blipFill>
        <p:spPr bwMode="auto">
          <a:xfrm>
            <a:off x="1619672" y="548680"/>
            <a:ext cx="7128792" cy="6309320"/>
          </a:xfrm>
          <a:prstGeom prst="rect">
            <a:avLst/>
          </a:prstGeom>
          <a:noFill/>
          <a:ln>
            <a:noFill/>
          </a:ln>
        </p:spPr>
      </p:pic>
    </p:spTree>
    <p:extLst>
      <p:ext uri="{BB962C8B-B14F-4D97-AF65-F5344CB8AC3E}">
        <p14:creationId xmlns:p14="http://schemas.microsoft.com/office/powerpoint/2010/main" val="17900949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ANUJ\OneDrive\Pictures\Icecream Screen Recorder\Screenshot_2023_12_19-9.png"/>
          <p:cNvPicPr/>
          <p:nvPr/>
        </p:nvPicPr>
        <p:blipFill>
          <a:blip r:embed="rId2">
            <a:extLst>
              <a:ext uri="{28A0092B-C50C-407E-A947-70E740481C1C}">
                <a14:useLocalDpi xmlns:a14="http://schemas.microsoft.com/office/drawing/2010/main" val="0"/>
              </a:ext>
            </a:extLst>
          </a:blip>
          <a:srcRect/>
          <a:stretch>
            <a:fillRect/>
          </a:stretch>
        </p:blipFill>
        <p:spPr bwMode="auto">
          <a:xfrm>
            <a:off x="1455420" y="373062"/>
            <a:ext cx="7365052" cy="6111875"/>
          </a:xfrm>
          <a:prstGeom prst="rect">
            <a:avLst/>
          </a:prstGeom>
          <a:noFill/>
          <a:ln>
            <a:noFill/>
          </a:ln>
        </p:spPr>
      </p:pic>
    </p:spTree>
    <p:extLst>
      <p:ext uri="{BB962C8B-B14F-4D97-AF65-F5344CB8AC3E}">
        <p14:creationId xmlns:p14="http://schemas.microsoft.com/office/powerpoint/2010/main" val="1782218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5F0386-8B12-CC23-A99D-098C6B343917}"/>
              </a:ext>
            </a:extLst>
          </p:cNvPr>
          <p:cNvSpPr>
            <a:spLocks noGrp="1"/>
          </p:cNvSpPr>
          <p:nvPr>
            <p:ph type="title"/>
          </p:nvPr>
        </p:nvSpPr>
        <p:spPr>
          <a:xfrm>
            <a:off x="1435608" y="-99392"/>
            <a:ext cx="7498080" cy="720080"/>
          </a:xfrm>
        </p:spPr>
        <p:txBody>
          <a:bodyPr>
            <a:normAutofit fontScale="90000"/>
          </a:bodyPr>
          <a:lstStyle/>
          <a:p>
            <a:pPr algn="ctr"/>
            <a:r>
              <a:rPr lang="en-IN" b="1" dirty="0"/>
              <a:t>Class Diagram</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132" y="908720"/>
            <a:ext cx="7529555" cy="5373216"/>
          </a:xfrm>
          <a:prstGeom prst="rect">
            <a:avLst/>
          </a:prstGeom>
        </p:spPr>
      </p:pic>
    </p:spTree>
    <p:extLst>
      <p:ext uri="{BB962C8B-B14F-4D97-AF65-F5344CB8AC3E}">
        <p14:creationId xmlns:p14="http://schemas.microsoft.com/office/powerpoint/2010/main" val="39414259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42852"/>
            <a:ext cx="7498080" cy="2071702"/>
          </a:xfrm>
        </p:spPr>
        <p:txBody>
          <a:bodyPr>
            <a:normAutofit/>
          </a:bodyPr>
          <a:lstStyle/>
          <a:p>
            <a:pPr algn="ctr"/>
            <a:r>
              <a:rPr lang="en-US" b="1" u="sng" dirty="0"/>
              <a:t>Implementation and </a:t>
            </a:r>
            <a:br>
              <a:rPr lang="en-US" b="1" u="sng" dirty="0"/>
            </a:br>
            <a:r>
              <a:rPr lang="en-US" b="1" u="sng" dirty="0"/>
              <a:t>System Testing</a:t>
            </a:r>
            <a:r>
              <a:rPr lang="en-US" dirty="0"/>
              <a:t/>
            </a:r>
            <a:br>
              <a:rPr lang="en-US" dirty="0"/>
            </a:br>
            <a:endParaRPr lang="en-US" dirty="0"/>
          </a:p>
        </p:txBody>
      </p:sp>
      <p:sp>
        <p:nvSpPr>
          <p:cNvPr id="3" name="Content Placeholder 2"/>
          <p:cNvSpPr>
            <a:spLocks noGrp="1"/>
          </p:cNvSpPr>
          <p:nvPr>
            <p:ph idx="1"/>
          </p:nvPr>
        </p:nvSpPr>
        <p:spPr>
          <a:xfrm>
            <a:off x="1435608" y="1643050"/>
            <a:ext cx="7498080" cy="4605350"/>
          </a:xfrm>
        </p:spPr>
        <p:txBody>
          <a:bodyPr>
            <a:normAutofit fontScale="70000" lnSpcReduction="20000"/>
          </a:bodyPr>
          <a:lstStyle/>
          <a:p>
            <a:r>
              <a:rPr lang="en-US" dirty="0"/>
              <a:t>After all phase have been perfectly done, the system will be implemented to the server and the system can be used.</a:t>
            </a:r>
          </a:p>
          <a:p>
            <a:endParaRPr lang="en-US" dirty="0"/>
          </a:p>
          <a:p>
            <a:pPr>
              <a:buNone/>
            </a:pPr>
            <a:r>
              <a:rPr lang="en-US" b="1" u="sng" dirty="0"/>
              <a:t>System Testing</a:t>
            </a:r>
          </a:p>
          <a:p>
            <a:pPr>
              <a:buNone/>
            </a:pPr>
            <a:endParaRPr lang="en-US" dirty="0"/>
          </a:p>
          <a:p>
            <a:r>
              <a:rPr lang="en-US" dirty="0"/>
              <a:t>The goal of the system testing process was to determine all faults in our project .The program was subjected to a set of test inputs and many explanations were made and based on these explanations it will be decided whether the program behaves as expected or not. Our Project went through two levels of testing</a:t>
            </a:r>
          </a:p>
          <a:p>
            <a:pPr>
              <a:buFont typeface="Wingdings" pitchFamily="2" charset="2"/>
              <a:buChar char="q"/>
            </a:pPr>
            <a:endParaRPr lang="en-US" dirty="0"/>
          </a:p>
          <a:p>
            <a:pPr>
              <a:buFont typeface="Wingdings" pitchFamily="2" charset="2"/>
              <a:buChar char="q"/>
            </a:pPr>
            <a:r>
              <a:rPr lang="en-US" dirty="0"/>
              <a:t>Unit testing</a:t>
            </a:r>
          </a:p>
          <a:p>
            <a:pPr>
              <a:buFont typeface="Wingdings" pitchFamily="2" charset="2"/>
              <a:buChar char="q"/>
            </a:pPr>
            <a:r>
              <a:rPr lang="en-US" dirty="0"/>
              <a:t>Integration testing</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Project Screens</a:t>
            </a:r>
            <a:r>
              <a:rPr lang="en-US" dirty="0"/>
              <a:t/>
            </a:r>
            <a:br>
              <a:rPr lang="en-US" dirty="0"/>
            </a:br>
            <a:endParaRPr lang="en-US" dirty="0"/>
          </a:p>
        </p:txBody>
      </p:sp>
      <p:pic>
        <p:nvPicPr>
          <p:cNvPr id="5" name="Picture 4"/>
          <p:cNvPicPr/>
          <p:nvPr/>
        </p:nvPicPr>
        <p:blipFill>
          <a:blip r:embed="rId2"/>
          <a:stretch>
            <a:fillRect/>
          </a:stretch>
        </p:blipFill>
        <p:spPr>
          <a:xfrm>
            <a:off x="1435608" y="836712"/>
            <a:ext cx="7096832" cy="5725636"/>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5" name="Picture 4"/>
          <p:cNvPicPr/>
          <p:nvPr/>
        </p:nvPicPr>
        <p:blipFill>
          <a:blip r:embed="rId2"/>
          <a:stretch>
            <a:fillRect/>
          </a:stretch>
        </p:blipFill>
        <p:spPr>
          <a:xfrm>
            <a:off x="1475656" y="386796"/>
            <a:ext cx="7128792" cy="5850516"/>
          </a:xfrm>
          <a:prstGeom prst="rect">
            <a:avLst/>
          </a:prstGeom>
        </p:spPr>
      </p:pic>
    </p:spTree>
    <p:extLst>
      <p:ext uri="{BB962C8B-B14F-4D97-AF65-F5344CB8AC3E}">
        <p14:creationId xmlns:p14="http://schemas.microsoft.com/office/powerpoint/2010/main" val="28984846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600200" y="548005"/>
            <a:ext cx="6932240" cy="5761990"/>
          </a:xfrm>
          <a:prstGeom prst="rect">
            <a:avLst/>
          </a:prstGeom>
        </p:spPr>
      </p:pic>
    </p:spTree>
    <p:extLst>
      <p:ext uri="{BB962C8B-B14F-4D97-AF65-F5344CB8AC3E}">
        <p14:creationId xmlns:p14="http://schemas.microsoft.com/office/powerpoint/2010/main" val="14200494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404665"/>
            <a:ext cx="7344816" cy="2448271"/>
          </a:xfrm>
          <a:prstGeom prst="rect">
            <a:avLst/>
          </a:prstGeom>
        </p:spPr>
      </p:pic>
      <p:pic>
        <p:nvPicPr>
          <p:cNvPr id="4" name="Picture 3"/>
          <p:cNvPicPr/>
          <p:nvPr/>
        </p:nvPicPr>
        <p:blipFill>
          <a:blip r:embed="rId3"/>
          <a:stretch>
            <a:fillRect/>
          </a:stretch>
        </p:blipFill>
        <p:spPr>
          <a:xfrm>
            <a:off x="1475656" y="3068960"/>
            <a:ext cx="7344816" cy="3550920"/>
          </a:xfrm>
          <a:prstGeom prst="rect">
            <a:avLst/>
          </a:prstGeom>
        </p:spPr>
      </p:pic>
    </p:spTree>
    <p:extLst>
      <p:ext uri="{BB962C8B-B14F-4D97-AF65-F5344CB8AC3E}">
        <p14:creationId xmlns:p14="http://schemas.microsoft.com/office/powerpoint/2010/main" val="10231111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260648"/>
            <a:ext cx="7632848" cy="2880320"/>
          </a:xfrm>
          <a:prstGeom prst="rect">
            <a:avLst/>
          </a:prstGeom>
        </p:spPr>
      </p:pic>
      <p:pic>
        <p:nvPicPr>
          <p:cNvPr id="4" name="Picture 3"/>
          <p:cNvPicPr/>
          <p:nvPr/>
        </p:nvPicPr>
        <p:blipFill>
          <a:blip r:embed="rId3"/>
          <a:stretch>
            <a:fillRect/>
          </a:stretch>
        </p:blipFill>
        <p:spPr>
          <a:xfrm>
            <a:off x="1361054" y="3346477"/>
            <a:ext cx="7603434" cy="3322320"/>
          </a:xfrm>
          <a:prstGeom prst="rect">
            <a:avLst/>
          </a:prstGeom>
        </p:spPr>
      </p:pic>
    </p:spTree>
    <p:extLst>
      <p:ext uri="{BB962C8B-B14F-4D97-AF65-F5344CB8AC3E}">
        <p14:creationId xmlns:p14="http://schemas.microsoft.com/office/powerpoint/2010/main" val="31154637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600200" y="223520"/>
            <a:ext cx="7076256" cy="6410960"/>
          </a:xfrm>
          <a:prstGeom prst="rect">
            <a:avLst/>
          </a:prstGeom>
        </p:spPr>
      </p:pic>
    </p:spTree>
    <p:extLst>
      <p:ext uri="{BB962C8B-B14F-4D97-AF65-F5344CB8AC3E}">
        <p14:creationId xmlns:p14="http://schemas.microsoft.com/office/powerpoint/2010/main" val="30732667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2051720" y="404664"/>
            <a:ext cx="6480720" cy="6295479"/>
          </a:xfrm>
          <a:prstGeom prst="rect">
            <a:avLst/>
          </a:prstGeom>
        </p:spPr>
      </p:pic>
    </p:spTree>
    <p:extLst>
      <p:ext uri="{BB962C8B-B14F-4D97-AF65-F5344CB8AC3E}">
        <p14:creationId xmlns:p14="http://schemas.microsoft.com/office/powerpoint/2010/main" val="25562122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691680" y="9484"/>
            <a:ext cx="6912768" cy="5867788"/>
          </a:xfrm>
          <a:prstGeom prst="rect">
            <a:avLst/>
          </a:prstGeom>
        </p:spPr>
      </p:pic>
    </p:spTree>
    <p:extLst>
      <p:ext uri="{BB962C8B-B14F-4D97-AF65-F5344CB8AC3E}">
        <p14:creationId xmlns:p14="http://schemas.microsoft.com/office/powerpoint/2010/main" val="6156900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116632"/>
            <a:ext cx="7200800" cy="2304256"/>
          </a:xfrm>
          <a:prstGeom prst="rect">
            <a:avLst/>
          </a:prstGeom>
        </p:spPr>
      </p:pic>
      <p:pic>
        <p:nvPicPr>
          <p:cNvPr id="4" name="Picture 3"/>
          <p:cNvPicPr/>
          <p:nvPr/>
        </p:nvPicPr>
        <p:blipFill>
          <a:blip r:embed="rId3"/>
          <a:stretch>
            <a:fillRect/>
          </a:stretch>
        </p:blipFill>
        <p:spPr>
          <a:xfrm>
            <a:off x="1451891" y="2729166"/>
            <a:ext cx="7296573" cy="3652161"/>
          </a:xfrm>
          <a:prstGeom prst="rect">
            <a:avLst/>
          </a:prstGeom>
        </p:spPr>
      </p:pic>
    </p:spTree>
    <p:extLst>
      <p:ext uri="{BB962C8B-B14F-4D97-AF65-F5344CB8AC3E}">
        <p14:creationId xmlns:p14="http://schemas.microsoft.com/office/powerpoint/2010/main" val="40647404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379442"/>
            <a:ext cx="7416824" cy="2833534"/>
          </a:xfrm>
          <a:prstGeom prst="rect">
            <a:avLst/>
          </a:prstGeom>
        </p:spPr>
      </p:pic>
      <p:pic>
        <p:nvPicPr>
          <p:cNvPr id="4" name="Picture 3"/>
          <p:cNvPicPr/>
          <p:nvPr/>
        </p:nvPicPr>
        <p:blipFill>
          <a:blip r:embed="rId3"/>
          <a:stretch>
            <a:fillRect/>
          </a:stretch>
        </p:blipFill>
        <p:spPr>
          <a:xfrm>
            <a:off x="1331640" y="3356992"/>
            <a:ext cx="7416824" cy="3399790"/>
          </a:xfrm>
          <a:prstGeom prst="rect">
            <a:avLst/>
          </a:prstGeom>
        </p:spPr>
      </p:pic>
    </p:spTree>
    <p:extLst>
      <p:ext uri="{BB962C8B-B14F-4D97-AF65-F5344CB8AC3E}">
        <p14:creationId xmlns:p14="http://schemas.microsoft.com/office/powerpoint/2010/main" val="27762104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188640"/>
            <a:ext cx="7344816" cy="2891155"/>
          </a:xfrm>
          <a:prstGeom prst="rect">
            <a:avLst/>
          </a:prstGeom>
        </p:spPr>
      </p:pic>
      <p:pic>
        <p:nvPicPr>
          <p:cNvPr id="4" name="Picture 3"/>
          <p:cNvPicPr/>
          <p:nvPr/>
        </p:nvPicPr>
        <p:blipFill>
          <a:blip r:embed="rId3"/>
          <a:stretch>
            <a:fillRect/>
          </a:stretch>
        </p:blipFill>
        <p:spPr>
          <a:xfrm>
            <a:off x="1331640" y="3645024"/>
            <a:ext cx="7272808" cy="2650490"/>
          </a:xfrm>
          <a:prstGeom prst="rect">
            <a:avLst/>
          </a:prstGeom>
        </p:spPr>
      </p:pic>
    </p:spTree>
    <p:extLst>
      <p:ext uri="{BB962C8B-B14F-4D97-AF65-F5344CB8AC3E}">
        <p14:creationId xmlns:p14="http://schemas.microsoft.com/office/powerpoint/2010/main" val="25799964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619672" y="404664"/>
            <a:ext cx="7344816" cy="2638425"/>
          </a:xfrm>
          <a:prstGeom prst="rect">
            <a:avLst/>
          </a:prstGeom>
        </p:spPr>
      </p:pic>
      <p:pic>
        <p:nvPicPr>
          <p:cNvPr id="4" name="Picture 3"/>
          <p:cNvPicPr/>
          <p:nvPr/>
        </p:nvPicPr>
        <p:blipFill>
          <a:blip r:embed="rId3"/>
          <a:stretch>
            <a:fillRect/>
          </a:stretch>
        </p:blipFill>
        <p:spPr>
          <a:xfrm>
            <a:off x="1623260" y="3429000"/>
            <a:ext cx="7341228" cy="2719070"/>
          </a:xfrm>
          <a:prstGeom prst="rect">
            <a:avLst/>
          </a:prstGeom>
        </p:spPr>
      </p:pic>
    </p:spTree>
    <p:extLst>
      <p:ext uri="{BB962C8B-B14F-4D97-AF65-F5344CB8AC3E}">
        <p14:creationId xmlns:p14="http://schemas.microsoft.com/office/powerpoint/2010/main" val="28190292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404664"/>
            <a:ext cx="7128792" cy="2346960"/>
          </a:xfrm>
          <a:prstGeom prst="rect">
            <a:avLst/>
          </a:prstGeom>
        </p:spPr>
      </p:pic>
      <p:pic>
        <p:nvPicPr>
          <p:cNvPr id="4" name="Picture 3"/>
          <p:cNvPicPr/>
          <p:nvPr/>
        </p:nvPicPr>
        <p:blipFill>
          <a:blip r:embed="rId3"/>
          <a:stretch>
            <a:fillRect/>
          </a:stretch>
        </p:blipFill>
        <p:spPr>
          <a:xfrm>
            <a:off x="1475656" y="3501008"/>
            <a:ext cx="7200800" cy="2694940"/>
          </a:xfrm>
          <a:prstGeom prst="rect">
            <a:avLst/>
          </a:prstGeom>
        </p:spPr>
      </p:pic>
    </p:spTree>
    <p:extLst>
      <p:ext uri="{BB962C8B-B14F-4D97-AF65-F5344CB8AC3E}">
        <p14:creationId xmlns:p14="http://schemas.microsoft.com/office/powerpoint/2010/main" val="15136390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419975"/>
            <a:ext cx="7272808" cy="2458085"/>
          </a:xfrm>
          <a:prstGeom prst="rect">
            <a:avLst/>
          </a:prstGeom>
        </p:spPr>
      </p:pic>
      <p:pic>
        <p:nvPicPr>
          <p:cNvPr id="4" name="Picture 3"/>
          <p:cNvPicPr/>
          <p:nvPr/>
        </p:nvPicPr>
        <p:blipFill>
          <a:blip r:embed="rId3"/>
          <a:stretch>
            <a:fillRect/>
          </a:stretch>
        </p:blipFill>
        <p:spPr>
          <a:xfrm>
            <a:off x="1447768" y="3284984"/>
            <a:ext cx="7300695" cy="2869596"/>
          </a:xfrm>
          <a:prstGeom prst="rect">
            <a:avLst/>
          </a:prstGeom>
        </p:spPr>
      </p:pic>
    </p:spTree>
    <p:extLst>
      <p:ext uri="{BB962C8B-B14F-4D97-AF65-F5344CB8AC3E}">
        <p14:creationId xmlns:p14="http://schemas.microsoft.com/office/powerpoint/2010/main" val="20760639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404664"/>
            <a:ext cx="7416824" cy="2737485"/>
          </a:xfrm>
          <a:prstGeom prst="rect">
            <a:avLst/>
          </a:prstGeom>
        </p:spPr>
      </p:pic>
      <p:pic>
        <p:nvPicPr>
          <p:cNvPr id="4" name="Picture 3"/>
          <p:cNvPicPr/>
          <p:nvPr/>
        </p:nvPicPr>
        <p:blipFill>
          <a:blip r:embed="rId3"/>
          <a:stretch>
            <a:fillRect/>
          </a:stretch>
        </p:blipFill>
        <p:spPr>
          <a:xfrm>
            <a:off x="1475656" y="3573016"/>
            <a:ext cx="7416824" cy="2631440"/>
          </a:xfrm>
          <a:prstGeom prst="rect">
            <a:avLst/>
          </a:prstGeom>
        </p:spPr>
      </p:pic>
    </p:spTree>
    <p:extLst>
      <p:ext uri="{BB962C8B-B14F-4D97-AF65-F5344CB8AC3E}">
        <p14:creationId xmlns:p14="http://schemas.microsoft.com/office/powerpoint/2010/main" val="82894842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260648"/>
            <a:ext cx="7056784" cy="2827020"/>
          </a:xfrm>
          <a:prstGeom prst="rect">
            <a:avLst/>
          </a:prstGeom>
        </p:spPr>
      </p:pic>
      <p:pic>
        <p:nvPicPr>
          <p:cNvPr id="4" name="Picture 3"/>
          <p:cNvPicPr/>
          <p:nvPr/>
        </p:nvPicPr>
        <p:blipFill>
          <a:blip r:embed="rId3"/>
          <a:stretch>
            <a:fillRect/>
          </a:stretch>
        </p:blipFill>
        <p:spPr>
          <a:xfrm>
            <a:off x="1475656" y="3356992"/>
            <a:ext cx="7056784" cy="3261360"/>
          </a:xfrm>
          <a:prstGeom prst="rect">
            <a:avLst/>
          </a:prstGeom>
        </p:spPr>
      </p:pic>
    </p:spTree>
    <p:extLst>
      <p:ext uri="{BB962C8B-B14F-4D97-AF65-F5344CB8AC3E}">
        <p14:creationId xmlns:p14="http://schemas.microsoft.com/office/powerpoint/2010/main" val="34972866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260648"/>
            <a:ext cx="7272808" cy="3282950"/>
          </a:xfrm>
          <a:prstGeom prst="rect">
            <a:avLst/>
          </a:prstGeom>
        </p:spPr>
      </p:pic>
      <p:pic>
        <p:nvPicPr>
          <p:cNvPr id="4" name="Picture 3"/>
          <p:cNvPicPr/>
          <p:nvPr/>
        </p:nvPicPr>
        <p:blipFill>
          <a:blip r:embed="rId3"/>
          <a:stretch>
            <a:fillRect/>
          </a:stretch>
        </p:blipFill>
        <p:spPr>
          <a:xfrm>
            <a:off x="1475656" y="3789040"/>
            <a:ext cx="7272808" cy="2961005"/>
          </a:xfrm>
          <a:prstGeom prst="rect">
            <a:avLst/>
          </a:prstGeom>
        </p:spPr>
      </p:pic>
    </p:spTree>
    <p:extLst>
      <p:ext uri="{BB962C8B-B14F-4D97-AF65-F5344CB8AC3E}">
        <p14:creationId xmlns:p14="http://schemas.microsoft.com/office/powerpoint/2010/main" val="27467693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620688"/>
            <a:ext cx="7344816" cy="2284095"/>
          </a:xfrm>
          <a:prstGeom prst="rect">
            <a:avLst/>
          </a:prstGeom>
        </p:spPr>
      </p:pic>
      <p:pic>
        <p:nvPicPr>
          <p:cNvPr id="4" name="Picture 3"/>
          <p:cNvPicPr/>
          <p:nvPr/>
        </p:nvPicPr>
        <p:blipFill>
          <a:blip r:embed="rId3"/>
          <a:stretch>
            <a:fillRect/>
          </a:stretch>
        </p:blipFill>
        <p:spPr>
          <a:xfrm>
            <a:off x="1364998" y="3501008"/>
            <a:ext cx="7311458" cy="2377440"/>
          </a:xfrm>
          <a:prstGeom prst="rect">
            <a:avLst/>
          </a:prstGeom>
        </p:spPr>
      </p:pic>
    </p:spTree>
    <p:extLst>
      <p:ext uri="{BB962C8B-B14F-4D97-AF65-F5344CB8AC3E}">
        <p14:creationId xmlns:p14="http://schemas.microsoft.com/office/powerpoint/2010/main" val="42619786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260648"/>
            <a:ext cx="7128792" cy="4824536"/>
          </a:xfrm>
          <a:prstGeom prst="rect">
            <a:avLst/>
          </a:prstGeom>
        </p:spPr>
      </p:pic>
    </p:spTree>
    <p:extLst>
      <p:ext uri="{BB962C8B-B14F-4D97-AF65-F5344CB8AC3E}">
        <p14:creationId xmlns:p14="http://schemas.microsoft.com/office/powerpoint/2010/main" val="16077358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547664" y="404664"/>
            <a:ext cx="7056784" cy="6048672"/>
          </a:xfrm>
          <a:prstGeom prst="rect">
            <a:avLst/>
          </a:prstGeom>
        </p:spPr>
      </p:pic>
    </p:spTree>
    <p:extLst>
      <p:ext uri="{BB962C8B-B14F-4D97-AF65-F5344CB8AC3E}">
        <p14:creationId xmlns:p14="http://schemas.microsoft.com/office/powerpoint/2010/main" val="15354258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260648"/>
            <a:ext cx="7416824" cy="3178810"/>
          </a:xfrm>
          <a:prstGeom prst="rect">
            <a:avLst/>
          </a:prstGeom>
        </p:spPr>
      </p:pic>
      <p:pic>
        <p:nvPicPr>
          <p:cNvPr id="4" name="Picture 3"/>
          <p:cNvPicPr/>
          <p:nvPr/>
        </p:nvPicPr>
        <p:blipFill>
          <a:blip r:embed="rId3"/>
          <a:stretch>
            <a:fillRect/>
          </a:stretch>
        </p:blipFill>
        <p:spPr>
          <a:xfrm>
            <a:off x="1331640" y="3789040"/>
            <a:ext cx="7416824" cy="2943860"/>
          </a:xfrm>
          <a:prstGeom prst="rect">
            <a:avLst/>
          </a:prstGeom>
        </p:spPr>
      </p:pic>
    </p:spTree>
    <p:extLst>
      <p:ext uri="{BB962C8B-B14F-4D97-AF65-F5344CB8AC3E}">
        <p14:creationId xmlns:p14="http://schemas.microsoft.com/office/powerpoint/2010/main" val="46506279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260648"/>
            <a:ext cx="7200800" cy="3124200"/>
          </a:xfrm>
          <a:prstGeom prst="rect">
            <a:avLst/>
          </a:prstGeom>
        </p:spPr>
      </p:pic>
      <p:pic>
        <p:nvPicPr>
          <p:cNvPr id="4" name="Picture 3"/>
          <p:cNvPicPr/>
          <p:nvPr/>
        </p:nvPicPr>
        <p:blipFill>
          <a:blip r:embed="rId3"/>
          <a:stretch>
            <a:fillRect/>
          </a:stretch>
        </p:blipFill>
        <p:spPr>
          <a:xfrm>
            <a:off x="1475656" y="3717032"/>
            <a:ext cx="7200800" cy="2634615"/>
          </a:xfrm>
          <a:prstGeom prst="rect">
            <a:avLst/>
          </a:prstGeom>
        </p:spPr>
      </p:pic>
    </p:spTree>
    <p:extLst>
      <p:ext uri="{BB962C8B-B14F-4D97-AF65-F5344CB8AC3E}">
        <p14:creationId xmlns:p14="http://schemas.microsoft.com/office/powerpoint/2010/main" val="418037579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547664" y="188640"/>
            <a:ext cx="7200800" cy="5760640"/>
          </a:xfrm>
          <a:prstGeom prst="rect">
            <a:avLst/>
          </a:prstGeom>
        </p:spPr>
      </p:pic>
    </p:spTree>
    <p:extLst>
      <p:ext uri="{BB962C8B-B14F-4D97-AF65-F5344CB8AC3E}">
        <p14:creationId xmlns:p14="http://schemas.microsoft.com/office/powerpoint/2010/main" val="41712217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547664" y="404664"/>
            <a:ext cx="7128792" cy="2320925"/>
          </a:xfrm>
          <a:prstGeom prst="rect">
            <a:avLst/>
          </a:prstGeom>
        </p:spPr>
      </p:pic>
      <p:pic>
        <p:nvPicPr>
          <p:cNvPr id="4" name="Picture 3"/>
          <p:cNvPicPr/>
          <p:nvPr/>
        </p:nvPicPr>
        <p:blipFill>
          <a:blip r:embed="rId3"/>
          <a:stretch>
            <a:fillRect/>
          </a:stretch>
        </p:blipFill>
        <p:spPr>
          <a:xfrm>
            <a:off x="1619672" y="3501008"/>
            <a:ext cx="7056784" cy="2423160"/>
          </a:xfrm>
          <a:prstGeom prst="rect">
            <a:avLst/>
          </a:prstGeom>
        </p:spPr>
      </p:pic>
    </p:spTree>
    <p:extLst>
      <p:ext uri="{BB962C8B-B14F-4D97-AF65-F5344CB8AC3E}">
        <p14:creationId xmlns:p14="http://schemas.microsoft.com/office/powerpoint/2010/main" val="26280925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404664"/>
            <a:ext cx="7200800" cy="2492375"/>
          </a:xfrm>
          <a:prstGeom prst="rect">
            <a:avLst/>
          </a:prstGeom>
        </p:spPr>
      </p:pic>
      <p:pic>
        <p:nvPicPr>
          <p:cNvPr id="4" name="Picture 3"/>
          <p:cNvPicPr/>
          <p:nvPr/>
        </p:nvPicPr>
        <p:blipFill>
          <a:blip r:embed="rId3"/>
          <a:stretch>
            <a:fillRect/>
          </a:stretch>
        </p:blipFill>
        <p:spPr>
          <a:xfrm>
            <a:off x="1403648" y="3645024"/>
            <a:ext cx="7200800" cy="2415540"/>
          </a:xfrm>
          <a:prstGeom prst="rect">
            <a:avLst/>
          </a:prstGeom>
        </p:spPr>
      </p:pic>
    </p:spTree>
    <p:extLst>
      <p:ext uri="{BB962C8B-B14F-4D97-AF65-F5344CB8AC3E}">
        <p14:creationId xmlns:p14="http://schemas.microsoft.com/office/powerpoint/2010/main" val="36018213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332656"/>
            <a:ext cx="7344816" cy="2696845"/>
          </a:xfrm>
          <a:prstGeom prst="rect">
            <a:avLst/>
          </a:prstGeom>
        </p:spPr>
      </p:pic>
      <p:pic>
        <p:nvPicPr>
          <p:cNvPr id="4" name="Picture 3"/>
          <p:cNvPicPr/>
          <p:nvPr/>
        </p:nvPicPr>
        <p:blipFill>
          <a:blip r:embed="rId3"/>
          <a:stretch>
            <a:fillRect/>
          </a:stretch>
        </p:blipFill>
        <p:spPr>
          <a:xfrm>
            <a:off x="1331640" y="3356992"/>
            <a:ext cx="7416824" cy="2959100"/>
          </a:xfrm>
          <a:prstGeom prst="rect">
            <a:avLst/>
          </a:prstGeom>
        </p:spPr>
      </p:pic>
    </p:spTree>
    <p:extLst>
      <p:ext uri="{BB962C8B-B14F-4D97-AF65-F5344CB8AC3E}">
        <p14:creationId xmlns:p14="http://schemas.microsoft.com/office/powerpoint/2010/main" val="38640458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548680"/>
            <a:ext cx="7128792" cy="2446020"/>
          </a:xfrm>
          <a:prstGeom prst="rect">
            <a:avLst/>
          </a:prstGeom>
        </p:spPr>
      </p:pic>
      <p:pic>
        <p:nvPicPr>
          <p:cNvPr id="4" name="Picture 3"/>
          <p:cNvPicPr/>
          <p:nvPr/>
        </p:nvPicPr>
        <p:blipFill>
          <a:blip r:embed="rId3"/>
          <a:stretch>
            <a:fillRect/>
          </a:stretch>
        </p:blipFill>
        <p:spPr>
          <a:xfrm>
            <a:off x="1547664" y="3573016"/>
            <a:ext cx="7056784" cy="2362200"/>
          </a:xfrm>
          <a:prstGeom prst="rect">
            <a:avLst/>
          </a:prstGeom>
        </p:spPr>
      </p:pic>
    </p:spTree>
    <p:extLst>
      <p:ext uri="{BB962C8B-B14F-4D97-AF65-F5344CB8AC3E}">
        <p14:creationId xmlns:p14="http://schemas.microsoft.com/office/powerpoint/2010/main" val="7394426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547664" y="548680"/>
            <a:ext cx="7056784" cy="2339340"/>
          </a:xfrm>
          <a:prstGeom prst="rect">
            <a:avLst/>
          </a:prstGeom>
        </p:spPr>
      </p:pic>
    </p:spTree>
    <p:extLst>
      <p:ext uri="{BB962C8B-B14F-4D97-AF65-F5344CB8AC3E}">
        <p14:creationId xmlns:p14="http://schemas.microsoft.com/office/powerpoint/2010/main" val="413742634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F56DD0-4D5C-3C1C-222D-A083EF7058A7}"/>
              </a:ext>
            </a:extLst>
          </p:cNvPr>
          <p:cNvSpPr>
            <a:spLocks noGrp="1"/>
          </p:cNvSpPr>
          <p:nvPr>
            <p:ph type="title"/>
          </p:nvPr>
        </p:nvSpPr>
        <p:spPr>
          <a:xfrm>
            <a:off x="1115616" y="548680"/>
            <a:ext cx="8064896" cy="360040"/>
          </a:xfrm>
        </p:spPr>
        <p:txBody>
          <a:bodyPr>
            <a:normAutofit fontScale="90000"/>
          </a:bodyPr>
          <a:lstStyle/>
          <a:p>
            <a:pPr algn="ctr"/>
            <a:r>
              <a:rPr lang="en-US" sz="40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t>Conclusion</a:t>
            </a:r>
            <a:r>
              <a:rPr lang="en-IN" sz="18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t/>
            </a:r>
            <a:br>
              <a:rPr lang="en-IN" sz="18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8F4CC09E-328C-FC4A-6A9B-8669484BF513}"/>
              </a:ext>
            </a:extLst>
          </p:cNvPr>
          <p:cNvSpPr>
            <a:spLocks noGrp="1"/>
          </p:cNvSpPr>
          <p:nvPr>
            <p:ph idx="1"/>
          </p:nvPr>
        </p:nvSpPr>
        <p:spPr>
          <a:xfrm>
            <a:off x="1043608" y="764704"/>
            <a:ext cx="7848872" cy="5976664"/>
          </a:xfrm>
        </p:spPr>
        <p:txBody>
          <a:bodyPr>
            <a:normAutofit fontScale="47500" lnSpcReduction="20000"/>
          </a:bodyPr>
          <a:lstStyle/>
          <a:p>
            <a:pPr marL="82296" indent="0">
              <a:buNone/>
            </a:pPr>
            <a:r>
              <a:rPr lang="en-US" dirty="0"/>
              <a:t>It has been a great pleasure for me to work on this exciting and challenging project. This project proved good for me as it provided practical knowledge of not only programming in PHP and MySQL web based application. It also provides knowledge about the latest technology used in developing web enabled application and client server technology that will be great demand in future. This will provide better opportunities and guidance in future in developing projects independently.</a:t>
            </a:r>
          </a:p>
          <a:p>
            <a:pPr marL="82296" indent="0">
              <a:buNone/>
            </a:pPr>
            <a:r>
              <a:rPr lang="en-US" b="1" dirty="0"/>
              <a:t>BENEFITS</a:t>
            </a:r>
            <a:r>
              <a:rPr lang="en-US" b="1" dirty="0" smtClean="0"/>
              <a:t>:</a:t>
            </a:r>
          </a:p>
          <a:p>
            <a:pPr marL="82296" indent="0">
              <a:buNone/>
            </a:pPr>
            <a:endParaRPr lang="en-US" dirty="0"/>
          </a:p>
          <a:p>
            <a:r>
              <a:rPr lang="en-US" dirty="0"/>
              <a:t>The project is identified by the merits of the system offered to the user. The merits of this project are as follows: -</a:t>
            </a:r>
          </a:p>
          <a:p>
            <a:pPr lvl="0"/>
            <a:r>
              <a:rPr lang="en-US" dirty="0"/>
              <a:t>It’s a web-enabled project.</a:t>
            </a:r>
          </a:p>
          <a:p>
            <a:pPr lvl="0"/>
            <a:r>
              <a:rPr lang="en-US" dirty="0"/>
              <a:t>This project offers user to enter the data through simple and interactive forms. This is very helpful for the client to enter the desired information through so much simplicity.</a:t>
            </a:r>
          </a:p>
          <a:p>
            <a:pPr lvl="0"/>
            <a:r>
              <a:rPr lang="en-US" dirty="0"/>
              <a:t>The user is mainly more concerned about the validity of the data, whatever he is entering. There are checks on every stages of any new creation, data entry or </a:t>
            </a:r>
            <a:r>
              <a:rPr lang="en-US" dirty="0" err="1"/>
              <a:t>updation</a:t>
            </a:r>
            <a:r>
              <a:rPr lang="en-US" dirty="0"/>
              <a:t> so that the user cannot enter the invalid data, which can create problems at later date.</a:t>
            </a:r>
          </a:p>
          <a:p>
            <a:pPr lvl="0"/>
            <a:r>
              <a:rPr lang="en-US" dirty="0"/>
              <a:t>Sometimes the user finds in the later stages of using project that he needs to update some of the information that he entered earlier. There are options for him by which he can update the records. Moreover there is restriction for his that he cannot change the primary data field. This keeps the validity of the data to longer extent.</a:t>
            </a:r>
          </a:p>
          <a:p>
            <a:pPr lvl="0"/>
            <a:r>
              <a:rPr lang="en-US" dirty="0"/>
              <a:t>User is provided the option of monitoring the records he entered earlier. He can see the desired records with the variety of options provided by him</a:t>
            </a:r>
            <a:r>
              <a:rPr lang="en-US" dirty="0" smtClean="0"/>
              <a:t>.</a:t>
            </a:r>
          </a:p>
          <a:p>
            <a:pPr lvl="0"/>
            <a:r>
              <a:rPr lang="en-US" dirty="0"/>
              <a:t>From every part of the project the user is provided with the links through framing so that he can go from one option of the project to other as per the requirement. This is bound to be simple and very friendly as per the user is concerned. That is, we can say that the project is user friendly which is one of the primary concerns of any good project.</a:t>
            </a:r>
          </a:p>
          <a:p>
            <a:pPr lvl="0"/>
            <a:r>
              <a:rPr lang="en-US" dirty="0"/>
              <a:t>Data storage and retrieval will become faster and easier to maintain because data is stored in a systematic manner and in a single database.</a:t>
            </a:r>
          </a:p>
          <a:p>
            <a:pPr lvl="0"/>
            <a:endParaRPr lang="en-US" dirty="0"/>
          </a:p>
          <a:p>
            <a:pPr marL="82296" indent="0">
              <a:buNone/>
            </a:pPr>
            <a:endParaRPr lang="en-IN" b="1" dirty="0"/>
          </a:p>
        </p:txBody>
      </p:sp>
    </p:spTree>
    <p:extLst>
      <p:ext uri="{BB962C8B-B14F-4D97-AF65-F5344CB8AC3E}">
        <p14:creationId xmlns:p14="http://schemas.microsoft.com/office/powerpoint/2010/main" val="426484054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Limitation</a:t>
            </a:r>
            <a:endParaRPr lang="en-US" b="1" dirty="0"/>
          </a:p>
        </p:txBody>
      </p:sp>
      <p:sp>
        <p:nvSpPr>
          <p:cNvPr id="3" name="Content Placeholder 2"/>
          <p:cNvSpPr>
            <a:spLocks noGrp="1"/>
          </p:cNvSpPr>
          <p:nvPr>
            <p:ph idx="1"/>
          </p:nvPr>
        </p:nvSpPr>
        <p:spPr/>
        <p:txBody>
          <a:bodyPr/>
          <a:lstStyle/>
          <a:p>
            <a:pPr lvl="0"/>
            <a:r>
              <a:rPr lang="en-US" dirty="0"/>
              <a:t>The size of the database increases day-by-day, increasing the load on the database back up and data maintenance activity.</a:t>
            </a:r>
          </a:p>
          <a:p>
            <a:pPr lvl="0"/>
            <a:r>
              <a:rPr lang="en-US" dirty="0"/>
              <a:t>Training for simple computer operations is necessary for the   users working on the system.</a:t>
            </a:r>
          </a:p>
          <a:p>
            <a:endParaRPr lang="en-US" dirty="0"/>
          </a:p>
        </p:txBody>
      </p:sp>
    </p:spTree>
    <p:extLst>
      <p:ext uri="{BB962C8B-B14F-4D97-AF65-F5344CB8AC3E}">
        <p14:creationId xmlns:p14="http://schemas.microsoft.com/office/powerpoint/2010/main" val="257252185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References</a:t>
            </a:r>
            <a:r>
              <a:rPr lang="en-US" dirty="0"/>
              <a:t/>
            </a:r>
            <a:br>
              <a:rPr lang="en-US" dirty="0"/>
            </a:br>
            <a:endParaRPr lang="en-US" dirty="0"/>
          </a:p>
        </p:txBody>
      </p:sp>
      <p:sp>
        <p:nvSpPr>
          <p:cNvPr id="3" name="Content Placeholder 2"/>
          <p:cNvSpPr>
            <a:spLocks noGrp="1"/>
          </p:cNvSpPr>
          <p:nvPr>
            <p:ph idx="1"/>
          </p:nvPr>
        </p:nvSpPr>
        <p:spPr>
          <a:xfrm>
            <a:off x="1435608" y="785794"/>
            <a:ext cx="7498080" cy="5462606"/>
          </a:xfrm>
        </p:spPr>
        <p:txBody>
          <a:bodyPr>
            <a:normAutofit/>
          </a:bodyPr>
          <a:lstStyle/>
          <a:p>
            <a:pPr marL="342900" lvl="0" indent="-342900" algn="just" hangingPunct="0">
              <a:buFont typeface="Wingdings" panose="05000000000000000000" pitchFamily="2" charset="2"/>
              <a:buChar char=""/>
            </a:pP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82296" indent="0">
              <a:buNone/>
            </a:pPr>
            <a:r>
              <a:rPr lang="en-US" sz="1800" b="1" dirty="0"/>
              <a:t>For PHP</a:t>
            </a:r>
            <a:endParaRPr lang="en-US" sz="1800" dirty="0"/>
          </a:p>
          <a:p>
            <a:pPr lvl="0"/>
            <a:r>
              <a:rPr lang="en-US" sz="1800" u="sng" dirty="0">
                <a:hlinkClick r:id="rId2"/>
              </a:rPr>
              <a:t>https://www.w3schools.com/php/default.asp</a:t>
            </a:r>
            <a:endParaRPr lang="en-US" sz="1800" dirty="0"/>
          </a:p>
          <a:p>
            <a:pPr lvl="0"/>
            <a:r>
              <a:rPr lang="en-US" sz="1800" u="sng" dirty="0">
                <a:hlinkClick r:id="rId3"/>
              </a:rPr>
              <a:t>https://www.sitepoint.com/php/</a:t>
            </a:r>
            <a:endParaRPr lang="en-US" sz="1800" dirty="0"/>
          </a:p>
          <a:p>
            <a:pPr lvl="0"/>
            <a:r>
              <a:rPr lang="en-US" sz="1800" u="sng" dirty="0">
                <a:hlinkClick r:id="rId4"/>
              </a:rPr>
              <a:t>https://www.php.net/</a:t>
            </a:r>
            <a:endParaRPr lang="en-US" sz="1800" dirty="0"/>
          </a:p>
          <a:p>
            <a:pPr marL="82296" indent="0">
              <a:buNone/>
            </a:pPr>
            <a:r>
              <a:rPr lang="en-US" sz="1800" dirty="0"/>
              <a:t> </a:t>
            </a:r>
          </a:p>
          <a:p>
            <a:pPr marL="82296" indent="0">
              <a:buNone/>
            </a:pPr>
            <a:r>
              <a:rPr lang="en-US" sz="1800" b="1" dirty="0"/>
              <a:t> </a:t>
            </a:r>
            <a:r>
              <a:rPr lang="en-US" sz="1800" b="1" dirty="0" smtClean="0"/>
              <a:t>For </a:t>
            </a:r>
            <a:r>
              <a:rPr lang="en-US" sz="1800" b="1" dirty="0"/>
              <a:t>MySQL</a:t>
            </a:r>
            <a:endParaRPr lang="en-US" sz="1800" dirty="0"/>
          </a:p>
          <a:p>
            <a:pPr lvl="0"/>
            <a:r>
              <a:rPr lang="en-US" sz="1800" u="sng" dirty="0">
                <a:hlinkClick r:id="rId5"/>
              </a:rPr>
              <a:t>https://www.mysql.com/</a:t>
            </a:r>
            <a:endParaRPr lang="en-US" sz="1800" dirty="0"/>
          </a:p>
          <a:p>
            <a:pPr lvl="0"/>
            <a:r>
              <a:rPr lang="en-US" sz="1800" u="sng" dirty="0">
                <a:hlinkClick r:id="rId6"/>
              </a:rPr>
              <a:t>http://www.mysqltutorial.org</a:t>
            </a:r>
            <a:endParaRPr lang="en-US" sz="1800" dirty="0"/>
          </a:p>
          <a:p>
            <a:pPr marL="82296" indent="0">
              <a:buNone/>
            </a:pPr>
            <a:r>
              <a:rPr lang="en-US" sz="1800" b="1" dirty="0"/>
              <a:t> </a:t>
            </a:r>
            <a:endParaRPr lang="en-US" sz="1800" dirty="0"/>
          </a:p>
          <a:p>
            <a:pPr marL="82296" indent="0">
              <a:buNone/>
            </a:pPr>
            <a:r>
              <a:rPr lang="en-US" sz="1800" b="1" dirty="0"/>
              <a:t>For XAMPP</a:t>
            </a:r>
            <a:endParaRPr lang="en-US" sz="1800" dirty="0"/>
          </a:p>
          <a:p>
            <a:pPr lvl="0"/>
            <a:r>
              <a:rPr lang="en-US" sz="1800" u="sng" dirty="0">
                <a:hlinkClick r:id="rId7"/>
              </a:rPr>
              <a:t>https://www.apachefriends.org/download.html</a:t>
            </a:r>
            <a:endParaRPr lang="en-US" sz="1800" dirty="0"/>
          </a:p>
          <a:p>
            <a:pPr marL="0" lvl="0" indent="0" algn="just" hangingPunct="0">
              <a:buNone/>
            </a:pP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290" y="2428868"/>
            <a:ext cx="7498080" cy="1143000"/>
          </a:xfrm>
        </p:spPr>
        <p:txBody>
          <a:bodyPr>
            <a:normAutofit/>
          </a:bodyPr>
          <a:lstStyle/>
          <a:p>
            <a:pPr algn="ctr"/>
            <a:r>
              <a:rPr lang="en-IN" sz="6600" b="1" dirty="0"/>
              <a:t>Thank You</a:t>
            </a:r>
            <a:endParaRPr lang="en-US" sz="6600" b="1"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6313</TotalTime>
  <Words>1292</Words>
  <Application>Microsoft Office PowerPoint</Application>
  <PresentationFormat>On-screen Show (4:3)</PresentationFormat>
  <Paragraphs>123</Paragraphs>
  <Slides>50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Gill Sans MT</vt:lpstr>
      <vt:lpstr>Times New Roman</vt:lpstr>
      <vt:lpstr>Verdana</vt:lpstr>
      <vt:lpstr>Wingdings</vt:lpstr>
      <vt:lpstr>Wingdings 2</vt:lpstr>
      <vt:lpstr>Solstice</vt:lpstr>
      <vt:lpstr>Water Supply Management System  Developed in PHP &amp; MySQL </vt:lpstr>
      <vt:lpstr>Introduction</vt:lpstr>
      <vt:lpstr>Purpose of the Project</vt:lpstr>
      <vt:lpstr>Project Modules </vt:lpstr>
      <vt:lpstr>Admin Module</vt:lpstr>
      <vt:lpstr>User Module</vt:lpstr>
      <vt:lpstr>Requirement Specification </vt:lpstr>
      <vt:lpstr>Continue.....</vt:lpstr>
      <vt:lpstr>Use Case Diagram</vt:lpstr>
      <vt:lpstr>PowerPoint Presentation</vt:lpstr>
      <vt:lpstr>ER Diagram</vt:lpstr>
      <vt:lpstr>Dataflow Diagrams (DFDs)</vt:lpstr>
      <vt:lpstr>PowerPoint Presentation</vt:lpstr>
      <vt:lpstr>PowerPoint Presentation</vt:lpstr>
      <vt:lpstr>PowerPoint Presentation</vt:lpstr>
      <vt:lpstr>PowerPoint Presentation</vt:lpstr>
      <vt:lpstr>Class Diagram</vt:lpstr>
      <vt:lpstr>Implementation and  System Testing </vt:lpstr>
      <vt:lpstr>Project Screens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Limitation</vt:lpstr>
      <vt:lpstr>References </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Testing  Management System</dc:title>
  <dc:creator>Anuj kumar</dc:creator>
  <cp:lastModifiedBy>Microsoft account</cp:lastModifiedBy>
  <cp:revision>126</cp:revision>
  <dcterms:created xsi:type="dcterms:W3CDTF">2021-11-06T13:13:02Z</dcterms:created>
  <dcterms:modified xsi:type="dcterms:W3CDTF">2023-12-19T18:50:13Z</dcterms:modified>
</cp:coreProperties>
</file>